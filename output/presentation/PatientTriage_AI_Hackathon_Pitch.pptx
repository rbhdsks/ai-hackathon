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d81b7e46f541fa" /><Relationship Type="http://schemas.openxmlformats.org/officeDocument/2006/relationships/extended-properties" Target="/docProps/app.xml" Id="Rc6d9f457da174991" /><Relationship Type="http://schemas.openxmlformats.org/officeDocument/2006/relationships/officeDocument" Target="/ppt/presentation.xml" Id="R5cd0af15293e48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d74e50612b4457"/>
  </p:sldMasterIdLst>
  <p:notesMasterIdLst>
    <p:notesMasterId xmlns:r="http://schemas.openxmlformats.org/officeDocument/2006/relationships" r:id="R0e26233dc33343ee"/>
  </p:notesMasterIdLst>
  <p:sldIdLst>
    <p:sldId xmlns:r="http://schemas.openxmlformats.org/officeDocument/2006/relationships" id="256" r:id="R4da073ea128149d0"/>
    <p:sldId xmlns:r="http://schemas.openxmlformats.org/officeDocument/2006/relationships" id="257" r:id="Racd783dbb4124f6e"/>
    <p:sldId xmlns:r="http://schemas.openxmlformats.org/officeDocument/2006/relationships" id="258" r:id="R20854ece5c0c4a5e"/>
    <p:sldId xmlns:r="http://schemas.openxmlformats.org/officeDocument/2006/relationships" id="259" r:id="R208b01a4ec7940f5"/>
    <p:sldId xmlns:r="http://schemas.openxmlformats.org/officeDocument/2006/relationships" id="260" r:id="R940ab8fb6ae0423e"/>
    <p:sldId xmlns:r="http://schemas.openxmlformats.org/officeDocument/2006/relationships" id="261" r:id="R47f604671ed24155"/>
    <p:sldId xmlns:r="http://schemas.openxmlformats.org/officeDocument/2006/relationships" id="262" r:id="Raad03f3940884a03"/>
    <p:sldId xmlns:r="http://schemas.openxmlformats.org/officeDocument/2006/relationships" id="263" r:id="R78d149b0f8e74433"/>
    <p:sldId xmlns:r="http://schemas.openxmlformats.org/officeDocument/2006/relationships" id="264" r:id="R6efc18e0cc6943e6"/>
    <p:sldId xmlns:r="http://schemas.openxmlformats.org/officeDocument/2006/relationships" id="265" r:id="R8b54b14284b24714"/>
    <p:sldId xmlns:r="http://schemas.openxmlformats.org/officeDocument/2006/relationships" id="266" r:id="R6d7b2a9a9c794b25"/>
    <p:sldId xmlns:r="http://schemas.openxmlformats.org/officeDocument/2006/relationships" id="267" r:id="Rc6c4bc13228048e7"/>
    <p:sldId xmlns:r="http://schemas.openxmlformats.org/officeDocument/2006/relationships" id="268" r:id="R1f8c0260e8804c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b939bdf7324403" /><Relationship Type="http://schemas.openxmlformats.org/officeDocument/2006/relationships/slideMaster" Target="/ppt/slideMasters/slideMaster1.xml" Id="R41d74e50612b4457" /><Relationship Type="http://schemas.openxmlformats.org/officeDocument/2006/relationships/notesMaster" Target="/ppt/notesMasters/notesMaster1.xml" Id="R0e26233dc33343ee" /><Relationship Type="http://schemas.openxmlformats.org/officeDocument/2006/relationships/presProps" Target="/ppt/presProps.xml" Id="R9943869fad87476e" /><Relationship Type="http://schemas.openxmlformats.org/officeDocument/2006/relationships/tableStyles" Target="/ppt/tableStyles.xml" Id="R872542b0a6fa4668" /><Relationship Type="http://schemas.openxmlformats.org/officeDocument/2006/relationships/slide" Target="/ppt/slides/slide1.xml" Id="R4da073ea128149d0" /><Relationship Type="http://schemas.openxmlformats.org/officeDocument/2006/relationships/slide" Target="/ppt/slides/slide2.xml" Id="Racd783dbb4124f6e" /><Relationship Type="http://schemas.openxmlformats.org/officeDocument/2006/relationships/slide" Target="/ppt/slides/slide3.xml" Id="R20854ece5c0c4a5e" /><Relationship Type="http://schemas.openxmlformats.org/officeDocument/2006/relationships/slide" Target="/ppt/slides/slide4.xml" Id="R208b01a4ec7940f5" /><Relationship Type="http://schemas.openxmlformats.org/officeDocument/2006/relationships/slide" Target="/ppt/slides/slide5.xml" Id="R940ab8fb6ae0423e" /><Relationship Type="http://schemas.openxmlformats.org/officeDocument/2006/relationships/slide" Target="/ppt/slides/slide6.xml" Id="R47f604671ed24155" /><Relationship Type="http://schemas.openxmlformats.org/officeDocument/2006/relationships/slide" Target="/ppt/slides/slide7.xml" Id="Raad03f3940884a03" /><Relationship Type="http://schemas.openxmlformats.org/officeDocument/2006/relationships/slide" Target="/ppt/slides/slide8.xml" Id="R78d149b0f8e74433" /><Relationship Type="http://schemas.openxmlformats.org/officeDocument/2006/relationships/slide" Target="/ppt/slides/slide9.xml" Id="R6efc18e0cc6943e6" /><Relationship Type="http://schemas.openxmlformats.org/officeDocument/2006/relationships/slide" Target="/ppt/slides/slide10.xml" Id="R8b54b14284b24714" /><Relationship Type="http://schemas.openxmlformats.org/officeDocument/2006/relationships/slide" Target="/ppt/slides/slide11.xml" Id="R6d7b2a9a9c794b25" /><Relationship Type="http://schemas.openxmlformats.org/officeDocument/2006/relationships/slide" Target="/ppt/slides/slide12.xml" Id="Rc6c4bc13228048e7" /><Relationship Type="http://schemas.openxmlformats.org/officeDocument/2006/relationships/slide" Target="/ppt/slides/slide13.xml" Id="R1f8c0260e8804c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370e348b8b40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aa138b939a4353" /><Relationship Type="http://schemas.openxmlformats.org/officeDocument/2006/relationships/notesMaster" Target="/ppt/notesMasters/notesMaster1.xml" Id="Rf3962dafdeea4a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2f8b8f1f5745c2" /><Relationship Type="http://schemas.openxmlformats.org/officeDocument/2006/relationships/notesMaster" Target="/ppt/notesMasters/notesMaster1.xml" Id="R2292f84e534c4f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c01712177046db" /><Relationship Type="http://schemas.openxmlformats.org/officeDocument/2006/relationships/notesMaster" Target="/ppt/notesMasters/notesMaster1.xml" Id="R91228ec80d304e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b90208ead9416d" /><Relationship Type="http://schemas.openxmlformats.org/officeDocument/2006/relationships/notesMaster" Target="/ppt/notesMasters/notesMaster1.xml" Id="R5e47d427e21844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c58b06507e41a3" /><Relationship Type="http://schemas.openxmlformats.org/officeDocument/2006/relationships/notesMaster" Target="/ppt/notesMasters/notesMaster1.xml" Id="R8985f0c1ca9d49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4ee992117c4f56" /><Relationship Type="http://schemas.openxmlformats.org/officeDocument/2006/relationships/notesMaster" Target="/ppt/notesMasters/notesMaster1.xml" Id="Rf0c7c3f3b39243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247f275d2a46f1" /><Relationship Type="http://schemas.openxmlformats.org/officeDocument/2006/relationships/notesMaster" Target="/ppt/notesMasters/notesMaster1.xml" Id="Re1d0b1d5e3c544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a6ac00f4024237" /><Relationship Type="http://schemas.openxmlformats.org/officeDocument/2006/relationships/notesMaster" Target="/ppt/notesMasters/notesMaster1.xml" Id="R14805559be6741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75483c77b44e8e" /><Relationship Type="http://schemas.openxmlformats.org/officeDocument/2006/relationships/notesMaster" Target="/ppt/notesMasters/notesMaster1.xml" Id="R5413ff6538814d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ab71bcea344fc4" /><Relationship Type="http://schemas.openxmlformats.org/officeDocument/2006/relationships/notesMaster" Target="/ppt/notesMasters/notesMaster1.xml" Id="Re8f068f3f05848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180effa17f408e" /><Relationship Type="http://schemas.openxmlformats.org/officeDocument/2006/relationships/notesMaster" Target="/ppt/notesMasters/notesMaster1.xml" Id="R66adcbfe660745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04b07f5b6c4365" /><Relationship Type="http://schemas.openxmlformats.org/officeDocument/2006/relationships/notesMaster" Target="/ppt/notesMasters/notesMaster1.xml" Id="R3489c5e7807744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bf3ba35b9a45cf" /><Relationship Type="http://schemas.openxmlformats.org/officeDocument/2006/relationships/notesMaster" Target="/ppt/notesMasters/notesMaster1.xml" Id="Rd1dbde0708ef48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narrow positioning. State that all patients and hospital parameters are synthetic. The decision requested at the end is approval to design a shadow pilot, not live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no scalar policy wins every objective. The product goal is coordination under change, not a one-time severity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https://www.england.nhs.uk/long-read/the-model-emergency-department-high-performing-urgent-and-emergency-care-pathways/</a:t>
            </a:r>
          </a:p>
          <a:p xmlns:a="http://schemas.openxmlformats.org/drawingml/2006/main">
            <a:r>
              <a:t>- https://clinicalestablishments.mohfw.gov.in/sites/default/files/standard-treatment-guidelines/9451.pdf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answer the 'ERP software banauna khojya haina' concern directly. The narrow boundary keeps the demo credible and makes role permissions understandable.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these values as an IPHS staffing standard. They are explicit simulation assumptions chosen to make the hackathon story concrete.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https://iphs.mohfw.gov.in/</a:t>
            </a:r>
          </a:p>
          <a:p xmlns:a="http://schemas.openxmlformats.org/drawingml/2006/main">
            <a:r>
              <a:t>- Local source: configs/district_hospital.json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least privilege. Pharmacy and blood bank cannot see the full queue or patient record. Administration sees de-identified operations, not clinical charts.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configs/rbac.json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key invariant: a context effect can never move a patient across a hard safety floor. This is the technical answer to under-triage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docs/LOW_LEVEL_DESIGN.md</a:t>
            </a:r>
          </a:p>
          <a:p xmlns:a="http://schemas.openxmlformats.org/drawingml/2006/main">
            <a:r>
              <a:t>- Local source: docs/CDM_MODEL.md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visual reconstruction of the implemented board, not a screenshot. Point out that color is never the only cue and that the board is an operational projection, not a bed-master.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dashboard/charts.py</a:t>
            </a:r>
          </a:p>
          <a:p xmlns:a="http://schemas.openxmlformats.org/drawingml/2006/main">
            <a:r>
              <a:t>- Local source: configs/district_hospital.json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sequence quickly. The strongest demo moments are the deterioration re-rank, the doctor override, and the visible fallback during simulated CDM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docs/PROTOTYPE_VIDEO_SCRIPT.md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transparent: the proposed method does not win every metric. Its static ordering ties acuity priority in this fixture; its value appears in the dynamic and governance capabilities the baselines do not include.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reports/baseline_benchmark.csv</a:t>
            </a:r>
          </a:p>
          <a:p xmlns:a="http://schemas.openxmlformats.org/drawingml/2006/main">
            <a:r>
              <a:t>- Local source: docs/BENCHMARK_REPORT.md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numbers as evidence of implementation efficiency, not a production SLO. Explain that production scale is gated by integration and safety architecture, not just model runtime.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source: reports/scalability_benchmark.csv</a:t>
            </a:r>
          </a:p>
          <a:p xmlns:a="http://schemas.openxmlformats.org/drawingml/2006/main">
            <a:r>
              <a:t>- Local source: docs/SCALABILITY_AND_COST.md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planning map, not a classification or compliance claim. The blockchain answer is deliberately conservative: add distributed consensus only if independent organizations truly need a shared audit anchor.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https://www.hhs.gov/hipaa/for-professionals/security/laws-regulations/index.html</a:t>
            </a:r>
          </a:p>
          <a:p xmlns:a="http://schemas.openxmlformats.org/drawingml/2006/main">
            <a:r>
              <a:t>- https://www.fda.gov/regulatory-information/search-fda-guidance-documents/clinical-decision-support-software</a:t>
            </a:r>
          </a:p>
          <a:p xmlns:a="http://schemas.openxmlformats.org/drawingml/2006/main">
            <a:r>
              <a:t>- https://www.england.nhs.uk/long-read/digital-clinical-safety-assurance/</a:t>
            </a:r>
          </a:p>
          <a:p xmlns:a="http://schemas.openxmlformats.org/drawingml/2006/main">
            <a:r>
              <a:t>- https://digital-strategy.ec.europa.eu/en/policies/regulatory-framework-ai</a:t>
            </a:r>
          </a:p>
          <a:p xmlns:a="http://schemas.openxmlformats.org/drawingml/2006/main">
            <a:r>
              <a:t>- https://hyperledger-fabric.readthedocs.io/en/latest/bft_configuration.html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pilot is shadow-only and has explicit stop criteria. Costs are order-of-magnitude planning ranges and exclude EHR fees, devices, taxes, legal advice, migration, and 24x7 staffing.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https://aws.amazon.com/fargate/pricing/</a:t>
            </a:r>
          </a:p>
          <a:p xmlns:a="http://schemas.openxmlformats.org/drawingml/2006/main">
            <a:r>
              <a:t>- https://aws.amazon.com/rds/postgresql/pricing/</a:t>
            </a:r>
          </a:p>
          <a:p xmlns:a="http://schemas.openxmlformats.org/drawingml/2006/main">
            <a:r>
              <a:t>- https://aws.amazon.com/cloudwatch/pricing/</a:t>
            </a:r>
          </a:p>
          <a:p xmlns:a="http://schemas.openxmlformats.org/drawingml/2006/main">
            <a:r>
              <a:t>- https://rbi.org.in/Scripts/BS_NSDPDisplay.aspx?param=4</a:t>
            </a:r>
          </a:p>
          <a:p xmlns:a="http://schemas.openxmlformats.org/drawingml/2006/main">
            <a:r>
              <a:t>- Local source: configs/cost_assumptions.json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opening. Ask for permission and hospital partnership to design a shadow pilot with independent clinical, security, privacy, and human-factors governance. Do not ask for live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c4b2b867a4b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e099adfa9b444e" /><Relationship Type="http://schemas.openxmlformats.org/officeDocument/2006/relationships/slideLayout" Target="/ppt/slideLayouts/slideLayout1.xml" Id="R12bb858c51b44c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bb858c51b44c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cc1c61ee44711" /><Relationship Type="http://schemas.openxmlformats.org/officeDocument/2006/relationships/image" Target="/ppt/media/image.png" Id="R5fa3f897bd3e4299" /><Relationship Type="http://schemas.openxmlformats.org/officeDocument/2006/relationships/notesSlide" Target="/ppt/notesSlides/notesSlide1.xml" Id="R6b8440da961042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0814a6d39401f" /><Relationship Type="http://schemas.openxmlformats.org/officeDocument/2006/relationships/notesSlide" Target="/ppt/notesSlides/notesSlide2.xml" Id="R372ddafc4e8748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b6e30068a94bde" /><Relationship Type="http://schemas.openxmlformats.org/officeDocument/2006/relationships/notesSlide" Target="/ppt/notesSlides/notesSlide3.xml" Id="Ra04f16dbb8b540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d19c215834dd4" /><Relationship Type="http://schemas.openxmlformats.org/officeDocument/2006/relationships/notesSlide" Target="/ppt/notesSlides/notesSlide4.xml" Id="Rfbb9f044cdf742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dbdf50426e4934" /><Relationship Type="http://schemas.openxmlformats.org/officeDocument/2006/relationships/notesSlide" Target="/ppt/notesSlides/notesSlide5.xml" Id="R2bf1c86e52f94e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f0f100bef4a5c" /><Relationship Type="http://schemas.openxmlformats.org/officeDocument/2006/relationships/notesSlide" Target="/ppt/notesSlides/notesSlide6.xml" Id="Rd5d9d4b4ebfa4a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921228b194078" /><Relationship Type="http://schemas.openxmlformats.org/officeDocument/2006/relationships/notesSlide" Target="/ppt/notesSlides/notesSlide7.xml" Id="R03c6b9548ad745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1433890154f10" /><Relationship Type="http://schemas.openxmlformats.org/officeDocument/2006/relationships/notesSlide" Target="/ppt/notesSlides/notesSlide8.xml" Id="Rb47b6daefed743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3ab5a134c4250" /><Relationship Type="http://schemas.openxmlformats.org/officeDocument/2006/relationships/chart" Target="/ppt/slides/charts/chart1.xml" Id="Rcd6fcf8b026f4547" /><Relationship Type="http://schemas.openxmlformats.org/officeDocument/2006/relationships/notesSlide" Target="/ppt/notesSlides/notesSlide9.xml" Id="R5e2874d34a2b4b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0e98a313b40af" /><Relationship Type="http://schemas.openxmlformats.org/officeDocument/2006/relationships/chart" Target="/ppt/slides/charts/chart2.xml" Id="R1dc231310dff40e2" /><Relationship Type="http://schemas.openxmlformats.org/officeDocument/2006/relationships/notesSlide" Target="/ppt/notesSlides/notesSlide10.xml" Id="R5d674899c7434d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6a2058cff4889" /><Relationship Type="http://schemas.openxmlformats.org/officeDocument/2006/relationships/notesSlide" Target="/ppt/notesSlides/notesSlide11.xml" Id="R65291cc7cf2848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8b8ea9c2a46f0" /><Relationship Type="http://schemas.openxmlformats.org/officeDocument/2006/relationships/notesSlide" Target="/ppt/notesSlides/notesSlide12.xml" Id="R43ddab2e223d44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827e647e04fcf" /><Relationship Type="http://schemas.openxmlformats.org/officeDocument/2006/relationships/image" Target="/ppt/media/image2.png" Id="Rc2d75a272faa4f19" /><Relationship Type="http://schemas.openxmlformats.org/officeDocument/2006/relationships/notesSlide" Target="/ppt/notesSlides/notesSlide13.xml" Id="R8d85ed536cb2482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Safety-weighted delay</c:v>
          </c:tx>
          <c:spPr>
            <a:solidFill xmlns:a="http://schemas.openxmlformats.org/drawingml/2006/main">
              <a:srgbClr val="0878E8"/>
            </a:solidFill>
          </c:spPr>
          <c:cat>
            <c:strLit>
              <c:ptCount val="6"/>
              <c:pt idx="0">
                <c:v>FCFS</c:v>
              </c:pt>
              <c:pt idx="1">
                <c:v>Acuity</c:v>
              </c:pt>
              <c:pt idx="2">
                <c:v>SJF-like</c:v>
              </c:pt>
              <c:pt idx="3">
                <c:v>Waiting</c:v>
              </c:pt>
              <c:pt idx="4">
                <c:v>Acuity + wait</c:v>
              </c:pt>
              <c:pt idx="5">
                <c:v>PatientTriage</c:v>
              </c:pt>
            </c:strLit>
          </c:cat>
          <c:val>
            <c:numLit>
              <c:formatCode>General</c:formatCode>
              <c:ptCount val="6"/>
              <c:pt idx="0">
                <c:v>935.5</c:v>
              </c:pt>
              <c:pt idx="1">
                <c:v>690.5</c:v>
              </c:pt>
              <c:pt idx="2">
                <c:v>938.4</c:v>
              </c:pt>
              <c:pt idx="3">
                <c:v>935.5</c:v>
              </c:pt>
              <c:pt idx="4">
                <c:v>795.3</c:v>
              </c:pt>
              <c:pt idx="5">
                <c:v>690.5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 20-patient snapshot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Lower is safer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Mean ms</c:v>
          </c:tx>
          <c:spPr>
            <a:solidFill xmlns:a="http://schemas.openxmlformats.org/drawingml/2006/main">
              <a:srgbClr val="0878E8"/>
            </a:solidFill>
          </c:spPr>
          <c:marker>
            <c:symbol val="none"/>
          </c:marker>
          <c:cat>
            <c:numLit>
              <c:formatCode>General</c:formatCode>
              <c:ptCount val="3"/>
              <c:pt idx="0">
                <c:v>20</c:v>
              </c:pt>
              <c:pt idx="1">
                <c:v>60</c:v>
              </c:pt>
              <c:pt idx="2">
                <c:v>180</c:v>
              </c:pt>
            </c:numLit>
          </c:cat>
          <c:val>
            <c:numLit>
              <c:formatCode>General</c:formatCode>
              <c:ptCount val="3"/>
              <c:pt idx="0">
                <c:v>0.711</c:v>
              </c:pt>
              <c:pt idx="1">
                <c:v>1.58</c:v>
              </c:pt>
              <c:pt idx="2">
                <c:v>4.745</c:v>
              </c:pt>
            </c:numLit>
          </c:val>
        </c:ser>
        <c:ser>
          <c:idx val="1"/>
          <c:order val="1"/>
          <c:tx>
            <c:v>P95 ms</c:v>
          </c:tx>
          <c:spPr>
            <a:solidFill xmlns:a="http://schemas.openxmlformats.org/drawingml/2006/main">
              <a:srgbClr val="10B8A6"/>
            </a:solidFill>
          </c:spPr>
          <c:marker>
            <c:symbol val="none"/>
          </c:marker>
          <c:cat>
            <c:numLit>
              <c:formatCode>General</c:formatCode>
              <c:ptCount val="3"/>
              <c:pt idx="0">
                <c:v>20</c:v>
              </c:pt>
              <c:pt idx="1">
                <c:v>60</c:v>
              </c:pt>
              <c:pt idx="2">
                <c:v>180</c:v>
              </c:pt>
            </c:numLit>
          </c:cat>
          <c:val>
            <c:numLit>
              <c:formatCode>General</c:formatCode>
              <c:ptCount val="3"/>
              <c:pt idx="0">
                <c:v>1.036</c:v>
              </c:pt>
              <c:pt idx="1">
                <c:v>1.803</c:v>
              </c:pt>
              <c:pt idx="2">
                <c:v>5.394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Patients in queue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Rank latency (ms)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F0ADF-A87E-4775-A019-672F2EAE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0">
            <a:solidFill>
              <a:srgbClr val="062B5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a3f897bd3e4299"/>
          <a:stretch xmlns:a="http://schemas.openxmlformats.org/drawingml/2006/main"/>
        </p:blipFill>
        <p:spPr>
          <a:xfrm xmlns:a="http://schemas.openxmlformats.org/drawingml/2006/main">
            <a:off x="761205" y="685800"/>
            <a:ext cx="4916490" cy="2781300"/>
          </a:xfrm>
          <a:prstGeom xmlns:a="http://schemas.openxmlformats.org/drawingml/2006/main" prst="rect">
            <a:avLst/>
          </a:prstGeom>
        </p:spPr>
      </p:pic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17DE6E9-B21F-4A0B-8716-164B7C0E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2B54"/>
                </a:solidFill>
              </a:defRPr>
            </a:pPr>
            <a:r>
              <a:rPr sz="3000" b="1">
                <a:solidFill>
                  <a:srgbClr val="062B54"/>
                </a:solidFill>
              </a:rPr>
              <a:t>A safer dynamic queue for the district emergency department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1B2384D-599E-43DD-812F-7897949D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F7085"/>
                </a:solidFill>
              </a:defRPr>
            </a:pPr>
            <a:r>
              <a:rPr sz="1650">
                <a:solidFill>
                  <a:srgbClr val="5F7085"/>
                </a:solidFill>
              </a:rPr>
              <a:t>Safety floors. Context-aware ranking. Visible uncertainty. Clinician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66EE9-E548-4370-A33F-9EAC1FA9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BF8"/>
          </a:solidFill>
          <a:ln xmlns:a="http://schemas.openxmlformats.org/drawingml/2006/main" w="9525">
            <a:solidFill>
              <a:srgbClr val="10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B8E8A-24CB-4FEC-B804-DABF5608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4817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2B54"/>
                </a:solidFill>
              </a:defRPr>
            </a:pPr>
            <a:r>
              <a:rPr sz="1500" b="1">
                <a:solidFill>
                  <a:srgbClr val="062B54"/>
                </a:solidFill>
              </a:rPr>
              <a:t>Focused scope: emergency coordination, not an ERP or autonomous clinical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09AE4-5353-404D-975E-3BC385B4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435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878E8"/>
                </a:solidFill>
              </a:defRPr>
            </a:pPr>
            <a:r>
              <a:rPr sz="1125">
                <a:solidFill>
                  <a:srgbClr val="0878E8"/>
                </a:solidFill>
              </a:rPr>
              <a:t>Phase 2 hackathon package  |  Version 0.3.0  |  25 August 2026</a:t>
            </a:r>
          </a:p>
        </p:txBody>
      </p:sp>
      <p:sp>
        <p:nvSpPr>
          <p:cNvPr id="8" name="footer">
            <a:extLst xmlns:a="http://schemas.openxmlformats.org/drawingml/2006/main">
              <a:ext uri="{FF2B5EF4-FFF2-40B4-BE49-F238E27FC236}">
                <a16:creationId xmlns:a16="http://schemas.microsoft.com/office/drawing/2014/main" id="{F31B632C-67E0-4F61-89D2-F7927A76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85"/>
                </a:solidFill>
              </a:defRPr>
            </a:pPr>
            <a:r>
              <a:rPr sz="825">
                <a:solidFill>
                  <a:srgbClr val="5F7085"/>
                </a:solidFill>
              </a:rPr>
              <a:t>PatientTriage.ai  |  Synthetic prototype  |  Not for patient care</a:t>
            </a:r>
          </a:p>
        </p:txBody>
      </p:sp>
    </p:spTree>
    <p:extLst>
      <p:ext uri="{BB962C8B-B14F-4D97-AF65-F5344CB8AC3E}">
        <p14:creationId xmlns:p14="http://schemas.microsoft.com/office/powerpoint/2010/main" val="8323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A5A61FDD-71A0-4703-9488-43CDED76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8E8"/>
                </a:solidFill>
              </a:defRPr>
            </a:pPr>
            <a:r>
              <a:rPr sz="975" b="1">
                <a:solidFill>
                  <a:srgbClr val="0878E8"/>
                </a:solidFill>
              </a:rPr>
              <a:t>THE 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1868D0-3E41-4F12-836F-EA038851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2B54"/>
                </a:solidFill>
              </a:defRPr>
            </a:pPr>
            <a:r>
              <a:rPr sz="2700" b="1">
                <a:solidFill>
                  <a:srgbClr val="062B54"/>
                </a:solidFill>
              </a:rPr>
              <a:t>The emergency queue changes after initial triage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194D9-2DC7-4046-A95E-26FBD77B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FE0"/>
          </a:solidFill>
          <a:ln xmlns:a="http://schemas.openxmlformats.org/drawingml/2006/main" w="0">
            <a:solidFill>
              <a:srgbClr val="10BFE0"/>
            </a:solidFill>
            <a:prstDash val="solid"/>
          </a:ln>
        </p:spPr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FDE377E2-AB6D-441A-880F-EDD7B8F9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3F11D-E84F-4F8B-A89B-AF3D9E3F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71809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7A61D-A538-4652-A9FB-69AA55F3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DBBDF-3D84-4A2E-9FA2-F1C1C629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6212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Arrival order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A0F23-C017-4BAC-9CC4-0DDE453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95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7085"/>
                </a:solidFill>
              </a:defRPr>
            </a:pPr>
            <a:r>
              <a:rPr sz="1275">
                <a:solidFill>
                  <a:srgbClr val="5F7085"/>
                </a:solidFill>
              </a:rPr>
              <a:t>is not clinical urgency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CA07B9-CF07-46E7-84EF-3FF1578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33A07-DEFD-4F6F-960B-2D2BA996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B368E-C0E4-44FB-93A3-093268B7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432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Acuity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3DFD0-BC59-494D-9F18-13F327A7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765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7085"/>
                </a:solidFill>
              </a:defRPr>
            </a:pPr>
            <a:r>
              <a:rPr sz="1275">
                <a:solidFill>
                  <a:srgbClr val="5F7085"/>
                </a:solidFill>
              </a:rPr>
              <a:t>can ignore time and uncertainty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05573-8433-438B-A5AA-A7AA48EE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63BF81-E2BA-41C2-9CF8-8C9261CE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9F119-5D77-4613-9039-9636AF5A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24275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Waiting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2F598-F116-4076-8B11-7F548F61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57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7085"/>
                </a:solidFill>
              </a:defRPr>
            </a:pPr>
            <a:r>
              <a:rPr sz="1275">
                <a:solidFill>
                  <a:srgbClr val="5F7085"/>
                </a:solidFill>
              </a:rPr>
              <a:t>can conflict with a new emergency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BB727-462B-4973-B58F-44F6A3BB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233C"/>
          </a:solidFill>
          <a:ln xmlns:a="http://schemas.openxmlformats.org/drawingml/2006/main" w="0">
            <a:solidFill>
              <a:srgbClr val="EF23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D7BEFA-0507-4CD4-A8A2-81350692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29175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B539E-8968-45ED-8416-4CEBC68E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053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Static scores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C9CE5-EE67-4416-83A3-F2E83427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387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F7085"/>
                </a:solidFill>
              </a:defRPr>
            </a:pPr>
            <a:r>
              <a:rPr sz="1275">
                <a:solidFill>
                  <a:srgbClr val="5F7085"/>
                </a:solidFill>
              </a:rPr>
              <a:t>miss deterioration and stale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55F7CE-7217-489D-AD01-6C538D79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828800"/>
            <a:ext cx="5286375" cy="36576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7B413-85E0-4D64-BCEB-A1706FEA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1336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8E8"/>
                </a:solidFill>
              </a:defRPr>
            </a:pPr>
            <a:r>
              <a:rPr sz="1350" b="1">
                <a:solidFill>
                  <a:srgbClr val="0878E8"/>
                </a:solidFill>
              </a:rPr>
              <a:t>The operational question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AA6FA3-241F-455A-B160-7785E062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24150"/>
            <a:ext cx="4286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62B54"/>
                </a:solidFill>
              </a:defRPr>
            </a:pPr>
            <a:r>
              <a:rPr sz="2550" b="1">
                <a:solidFill>
                  <a:srgbClr val="062B54"/>
                </a:solidFill>
              </a:rPr>
              <a:t>Who needs review next - and what changed since we last looked?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092FA8-0204-4496-AC2C-0CC4CD0E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5F7085"/>
                </a:solidFill>
              </a:defRPr>
            </a:pPr>
            <a:r>
              <a:rPr sz="1425">
                <a:solidFill>
                  <a:srgbClr val="5F7085"/>
                </a:solidFill>
              </a:rPr>
              <a:t>The answer must include evidence, confidence, missing information, and a safe human action.</a:t>
            </a:r>
          </a:p>
        </p:txBody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D153D1BB-94C0-414E-95AC-A1C5E5E9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85"/>
                </a:solidFill>
              </a:defRPr>
            </a:pPr>
            <a:r>
              <a:rPr sz="825">
                <a:solidFill>
                  <a:srgbClr val="5F7085"/>
                </a:solidFill>
              </a:rPr>
              <a:t>PatientTriage.ai  |  Synthetic prototype  |  Not for patient care</a:t>
            </a:r>
          </a:p>
        </p:txBody>
      </p:sp>
    </p:spTree>
    <p:extLst>
      <p:ext uri="{BB962C8B-B14F-4D97-AF65-F5344CB8AC3E}">
        <p14:creationId xmlns:p14="http://schemas.microsoft.com/office/powerpoint/2010/main" val="20028292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04626CE9-6040-462C-B96C-8E421106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8E8"/>
                </a:solidFill>
              </a:defRPr>
            </a:pPr>
            <a:r>
              <a:rPr sz="975" b="1">
                <a:solidFill>
                  <a:srgbClr val="0878E8"/>
                </a:solidFill>
              </a:rPr>
              <a:t>WHAT WE ARE BUILDING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0742FC-957F-4625-83C5-B8901498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2B54"/>
                </a:solidFill>
              </a:defRPr>
            </a:pPr>
            <a:r>
              <a:rPr sz="2700" b="1">
                <a:solidFill>
                  <a:srgbClr val="062B54"/>
                </a:solidFill>
              </a:rPr>
              <a:t>A narrow product boundary is a safety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32C3A-BD42-4453-AA0E-3F8B3385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FE0"/>
          </a:solidFill>
          <a:ln xmlns:a="http://schemas.openxmlformats.org/drawingml/2006/main" w="0">
            <a:solidFill>
              <a:srgbClr val="10BFE0"/>
            </a:solidFill>
            <a:prstDash val="solid"/>
          </a:ln>
        </p:spPr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3E957AF-6C9C-4235-A2BD-AA36CFD7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4D19B-DE90-4F13-BD1E-A53510F2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47625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BF8"/>
          </a:solidFill>
          <a:ln xmlns:a="http://schemas.openxmlformats.org/drawingml/2006/main" w="9525">
            <a:solidFill>
              <a:srgbClr val="10B8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0689F-78AD-4FC5-9194-8C9B33D8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B54"/>
                </a:solidFill>
              </a:defRPr>
            </a:pPr>
            <a:r>
              <a:rPr sz="1875" b="1">
                <a:solidFill>
                  <a:srgbClr val="062B54"/>
                </a:solidFill>
              </a:rPr>
              <a:t>PatientTriage.ai coordinates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B173F-DE59-4081-827B-C800D629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238"/>
                </a:solidFill>
              </a:defRPr>
            </a:pPr>
            <a:r>
              <a:rPr sz="1425" b="1">
                <a:solidFill>
                  <a:srgbClr val="132238"/>
                </a:solidFill>
              </a:rPr>
              <a:t>+  Review order and reassessment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F00D1-C05E-4F73-BDFB-FB1F2F64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19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+  Bed-wise and patient-wise visibility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F9881B-A42B-4884-B24C-3164F930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+  Uncertainty and deterioration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5E868F-D51B-42C9-8BC7-F937F3BF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+  Support-readiness signals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CA5DD-18B2-49EF-902F-A32C80A0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053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+  Override and audit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D06BE-CBDF-4596-9750-68218B80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90700"/>
            <a:ext cx="47625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EF23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8A2E4-1B5C-4AE9-8F76-137B22F9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B54"/>
                </a:solidFill>
              </a:defRPr>
            </a:pPr>
            <a:r>
              <a:rPr sz="1875" b="1">
                <a:solidFill>
                  <a:srgbClr val="062B54"/>
                </a:solidFill>
              </a:rPr>
              <a:t>PatientTriage.ai does not replace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8484E-485F-45FB-A8D9-F72FB540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238"/>
                </a:solidFill>
              </a:defRPr>
            </a:pPr>
            <a:r>
              <a:rPr sz="1425" b="1">
                <a:solidFill>
                  <a:srgbClr val="132238"/>
                </a:solidFill>
              </a:rPr>
              <a:t>-  Clinical judgement or diagnosis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0FB03-92A9-4705-874E-AF6A6863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19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-  EHR / hospital information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C2F493-F3B0-45F8-854B-E134D701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14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-  Bed-master or ADT authority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C6AF2-0A8B-4D4A-8B60-E5E902D4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0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-  Pharmacy / blood inventory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A0BC3-7FA6-4496-9BBC-94514E36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053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238"/>
                </a:solidFill>
              </a:defRPr>
            </a:pPr>
            <a:r>
              <a:rPr sz="1425" b="0">
                <a:solidFill>
                  <a:srgbClr val="132238"/>
                </a:solidFill>
              </a:rPr>
              <a:t>-  Billing, procurement, payroll, ERP</a:t>
            </a:r>
          </a:p>
        </p:txBody>
      </p:sp>
      <p:sp>
        <p:nvSpPr>
          <p:cNvPr id="19" name="footer">
            <a:extLst xmlns:a="http://schemas.openxmlformats.org/drawingml/2006/main">
              <a:ext uri="{FF2B5EF4-FFF2-40B4-BE49-F238E27FC236}">
                <a16:creationId xmlns:a16="http://schemas.microsoft.com/office/drawing/2014/main" id="{5F2B8973-3475-4AF7-B357-830B6C2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85"/>
                </a:solidFill>
              </a:defRPr>
            </a:pPr>
            <a:r>
              <a:rPr sz="825">
                <a:solidFill>
                  <a:srgbClr val="5F7085"/>
                </a:solidFill>
              </a:rPr>
              <a:t>PatientTriage.ai  |  Synthetic prototype  |  Not for patient care</a:t>
            </a:r>
          </a:p>
        </p:txBody>
      </p:sp>
    </p:spTree>
    <p:extLst>
      <p:ext uri="{BB962C8B-B14F-4D97-AF65-F5344CB8AC3E}">
        <p14:creationId xmlns:p14="http://schemas.microsoft.com/office/powerpoint/2010/main" val="1365467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56227295-1159-4AA0-B0D4-B31AB0E3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8E8"/>
                </a:solidFill>
              </a:defRPr>
            </a:pPr>
            <a:r>
              <a:rPr sz="975" b="1">
                <a:solidFill>
                  <a:srgbClr val="0878E8"/>
                </a:solidFill>
              </a:rPr>
              <a:t>OPERATING CONTEXT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97A230-B522-4EF6-843D-6D673E85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2B54"/>
                </a:solidFill>
              </a:defRPr>
            </a:pPr>
            <a:r>
              <a:rPr sz="2700" b="1">
                <a:solidFill>
                  <a:srgbClr val="062B54"/>
                </a:solidFill>
              </a:rPr>
              <a:t>Concrete district constraints make the simulation believable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8913D-957A-4427-91F9-D60A99FD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FE0"/>
          </a:solidFill>
          <a:ln xmlns:a="http://schemas.openxmlformats.org/drawingml/2006/main" w="0">
            <a:solidFill>
              <a:srgbClr val="10BFE0"/>
            </a:solidFill>
            <a:prstDash val="solid"/>
          </a:ln>
        </p:spPr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142277C-3B02-4F08-8CD1-D084859B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1CD8C-0652-4C2C-BE31-4C742846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0A445-685D-4F2F-9D31-3D3AE298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8E8"/>
                </a:solidFill>
              </a:defRPr>
            </a:pPr>
            <a:r>
              <a:rPr sz="2250" b="1">
                <a:solidFill>
                  <a:srgbClr val="0878E8"/>
                </a:solidFill>
              </a:rPr>
              <a:t>500k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3D2CC-F134-4F49-A97A-52960E73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Illustrative catchment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C147B-9732-4703-B2FD-29D0597B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09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F6C7E-48AE-4FE6-8C7B-1376FAA5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81200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2B54"/>
                </a:solidFill>
              </a:defRPr>
            </a:pPr>
            <a:r>
              <a:rPr sz="2250" b="1">
                <a:solidFill>
                  <a:srgbClr val="062B54"/>
                </a:solidFill>
              </a:rPr>
              <a:t>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CF5EC-9BAC-4B05-BA2C-0EF27EF2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955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Hospital beds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BE2A0-284F-475B-A581-9FA557A3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21CD8-7E17-4E64-A457-83508541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81200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B8A6"/>
                </a:solidFill>
              </a:defRPr>
            </a:pPr>
            <a:r>
              <a:rPr sz="2250" b="1">
                <a:solidFill>
                  <a:srgbClr val="10B8A6"/>
                </a:solidFill>
              </a:rPr>
              <a:t>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3D96D-40E3-4161-87FE-B4161D51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955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ED care spaces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F1857-BD71-46CD-A281-7F247D6A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7FA89-ECBE-439E-8D42-72460F40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81200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97316"/>
                </a:solidFill>
              </a:defRPr>
            </a:pPr>
            <a:r>
              <a:rPr sz="2250" b="1">
                <a:solidFill>
                  <a:srgbClr val="F97316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316D8-CD82-40E2-A48B-2E0FE02E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Treatment teams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933AB-F073-4C20-8181-3DE87D77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CC0EB-B544-4360-8CE2-3F7A4784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81200"/>
            <a:ext cx="150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F233C"/>
                </a:solidFill>
              </a:defRPr>
            </a:pPr>
            <a:r>
              <a:rPr sz="2250" b="1">
                <a:solidFill>
                  <a:srgbClr val="EF233C"/>
                </a:solidFill>
              </a:rPr>
              <a:t>20 / 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69EED8-7A21-484A-8EEB-03745F9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Normal / 3x surge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28A191-6B7F-4144-8DCB-F90418C4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Day demonstration shift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ADD9C-D099-450A-923E-87CAC953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878E8"/>
                </a:solidFill>
              </a:defRPr>
            </a:pPr>
            <a:r>
              <a:rPr sz="1500">
                <a:solidFill>
                  <a:srgbClr val="0878E8"/>
                </a:solidFill>
              </a:rPr>
              <a:t>08:00 start  -&gt;  20:00 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12567-303C-4238-B8CA-D322C5F8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Illustrative clinical staffing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11693-0847-4473-840F-6D419BFB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90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238"/>
                </a:solidFill>
              </a:defRPr>
            </a:pPr>
            <a:r>
              <a:rPr sz="1425">
                <a:solidFill>
                  <a:srgbClr val="132238"/>
                </a:solidFill>
              </a:rPr>
              <a:t>3 physicians  |  4 residents</a:t>
            </a:r>
          </a:p>
          <a:p xmlns:a="http://schemas.openxmlformats.org/drawingml/2006/main">
            <a:pPr>
              <a:defRPr sz="1425">
                <a:solidFill>
                  <a:srgbClr val="132238"/>
                </a:solidFill>
              </a:defRPr>
            </a:pPr>
            <a:r>
              <a:rPr sz="1425">
                <a:solidFill>
                  <a:srgbClr val="132238"/>
                </a:solidFill>
              </a:rPr>
              <a:t>2 triage nurses  |  12 staff nurses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D7604-2689-4EF0-AAD1-38E98097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09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18 spaces by zone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8FAB8-D228-4E84-82C9-72FA34A1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2905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32238"/>
                </a:solidFill>
              </a:defRPr>
            </a:pPr>
            <a:r>
              <a:rPr sz="1425">
                <a:solidFill>
                  <a:srgbClr val="132238"/>
                </a:solidFill>
              </a:rPr>
              <a:t>3 resuscitation</a:t>
            </a:r>
          </a:p>
          <a:p xmlns:a="http://schemas.openxmlformats.org/drawingml/2006/main">
            <a:pPr>
              <a:defRPr sz="1425">
                <a:solidFill>
                  <a:srgbClr val="132238"/>
                </a:solidFill>
              </a:defRPr>
            </a:pPr>
            <a:r>
              <a:rPr sz="1425">
                <a:solidFill>
                  <a:srgbClr val="132238"/>
                </a:solidFill>
              </a:rPr>
              <a:t>9 acute care</a:t>
            </a:r>
          </a:p>
          <a:p xmlns:a="http://schemas.openxmlformats.org/drawingml/2006/main">
            <a:pPr>
              <a:defRPr sz="1425">
                <a:solidFill>
                  <a:srgbClr val="132238"/>
                </a:solidFill>
              </a:defRPr>
            </a:pPr>
            <a:r>
              <a:rPr sz="1425">
                <a:solidFill>
                  <a:srgbClr val="132238"/>
                </a:solidFill>
              </a:rPr>
              <a:t>6 observation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B17639-98B0-4055-A9C1-A63C47CB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10420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0957BF-983E-4ACA-8B18-B881DA89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95900"/>
            <a:ext cx="988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B54"/>
                </a:solidFill>
              </a:defRPr>
            </a:pPr>
            <a:r>
              <a:rPr sz="1350" b="1">
                <a:solidFill>
                  <a:srgbClr val="062B54"/>
                </a:solidFill>
              </a:rPr>
              <a:t>Every value is configurable and illustrative. Replace it with locally approved capacity, roster, arrivals, and escalation policy before a pilot.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DD5D0B57-4FDC-4628-8666-78BB891F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85"/>
                </a:solidFill>
              </a:defRPr>
            </a:pPr>
            <a:r>
              <a:rPr sz="825">
                <a:solidFill>
                  <a:srgbClr val="5F7085"/>
                </a:solidFill>
              </a:rPr>
              <a:t>PatientTriage.ai  |  Synthetic prototype  |  Not for patient care</a:t>
            </a:r>
          </a:p>
        </p:txBody>
      </p:sp>
    </p:spTree>
    <p:extLst>
      <p:ext uri="{BB962C8B-B14F-4D97-AF65-F5344CB8AC3E}">
        <p14:creationId xmlns:p14="http://schemas.microsoft.com/office/powerpoint/2010/main" val="879104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">
            <a:extLst xmlns:a="http://schemas.openxmlformats.org/drawingml/2006/main">
              <a:ext uri="{FF2B5EF4-FFF2-40B4-BE49-F238E27FC236}">
                <a16:creationId xmlns:a16="http://schemas.microsoft.com/office/drawing/2014/main" id="{2B09A1DD-F71C-4589-97AA-88BD2FF5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8E8"/>
                </a:solidFill>
              </a:defRPr>
            </a:pPr>
            <a:r>
              <a:rPr sz="975" b="1">
                <a:solidFill>
                  <a:srgbClr val="0878E8"/>
                </a:solidFill>
              </a:rPr>
              <a:t>ROLE DESIGN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571F93-F919-4591-9AEA-D7874C2F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2B54"/>
                </a:solidFill>
              </a:defRPr>
            </a:pPr>
            <a:r>
              <a:rPr sz="2700" b="1">
                <a:solidFill>
                  <a:srgbClr val="062B54"/>
                </a:solidFill>
              </a:rPr>
              <a:t>Five users see only the information needed for their job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97CF99-D094-4314-93A4-AD77D2C8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FE0"/>
          </a:solidFill>
          <a:ln xmlns:a="http://schemas.openxmlformats.org/drawingml/2006/main" w="0">
            <a:solidFill>
              <a:srgbClr val="10BFE0"/>
            </a:solidFill>
            <a:prstDash val="solid"/>
          </a:ln>
        </p:spPr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10C69B6-D573-4052-9BD1-233026C2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3C2609-E6F4-421B-B83B-77A55CE5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000250" cy="3619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CC907-251C-4617-9C46-BF3A7CA8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955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8A6"/>
          </a:solidFill>
          <a:ln xmlns:a="http://schemas.openxmlformats.org/drawingml/2006/main" w="0">
            <a:solidFill>
              <a:srgbClr val="10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9BDA6-5019-4D5B-BC07-C7242D42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3837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D99F9F-8A1D-461D-AE81-26936E34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2B54"/>
                </a:solidFill>
              </a:defRPr>
            </a:pPr>
            <a:r>
              <a:rPr sz="1650" b="1">
                <a:solidFill>
                  <a:srgbClr val="062B54"/>
                </a:solidFill>
              </a:rPr>
              <a:t>Nurse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26273-6BA2-43F3-A8C2-5B057B11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21311-38E8-4F74-8612-BA84573F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32238"/>
                </a:solidFill>
              </a:defRPr>
            </a:pPr>
            <a:r>
              <a:rPr sz="1200">
                <a:solidFill>
                  <a:srgbClr val="132238"/>
                </a:solidFill>
              </a:rPr>
              <a:t>Beds + patients +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645EA7-7E7D-408C-9DB1-2BC14FE6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WRITE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6C84B-DA11-43CF-A8AE-0944D151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32238"/>
                </a:solidFill>
              </a:defRPr>
            </a:pPr>
            <a:r>
              <a:rPr sz="1200">
                <a:solidFill>
                  <a:srgbClr val="132238"/>
                </a:solidFill>
              </a:rPr>
              <a:t>Intake / vitals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F6D79-A35B-44CB-8859-2B051A81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09750"/>
            <a:ext cx="2000250" cy="3619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4E5C16-7DAF-47E8-96A2-F05A29B2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8E8"/>
          </a:solidFill>
          <a:ln xmlns:a="http://schemas.openxmlformats.org/drawingml/2006/main" w="0">
            <a:solidFill>
              <a:srgbClr val="0878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A9AA8B-6FB2-4634-8A35-2BE8A16D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23837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DB41A-9EBD-4900-95A9-DBFD2B1C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861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2B54"/>
                </a:solidFill>
              </a:defRPr>
            </a:pPr>
            <a:r>
              <a:rPr sz="1650" b="1">
                <a:solidFill>
                  <a:srgbClr val="062B54"/>
                </a:solidFill>
              </a:rPr>
              <a:t>Doctor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AF941-F8FC-4930-9090-2D483F12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385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READ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FB2F4-1977-4C27-A8CD-7C1A92A4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052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32238"/>
                </a:solidFill>
              </a:defRPr>
            </a:pPr>
            <a:r>
              <a:rPr sz="1200">
                <a:solidFill>
                  <a:srgbClr val="132238"/>
                </a:solidFill>
              </a:rPr>
              <a:t>Queue + readiness + 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E63D3-4BD2-473D-8836-94CABC40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529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WRITE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6D6A6-8447-4E6B-8867-C25CC62C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8196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32238"/>
                </a:solidFill>
              </a:defRPr>
            </a:pPr>
            <a:r>
              <a:rPr sz="1200">
                <a:solidFill>
                  <a:srgbClr val="132238"/>
                </a:solidFill>
              </a:rPr>
              <a:t>Override / disposition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1F1BD-7780-4908-8B58-19F78EBB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000250" cy="3619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72EEA-A618-48C1-B65D-75B24475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955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61BF6-E110-4914-8328-7A39A16E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23837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4C8251-2662-4315-956D-2FCB0458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861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2B54"/>
                </a:solidFill>
              </a:defRPr>
            </a:pPr>
            <a:r>
              <a:rPr sz="1650" b="1">
                <a:solidFill>
                  <a:srgbClr val="062B54"/>
                </a:solidFill>
              </a:rPr>
              <a:t>Pharmacy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D4B5E6-8F0C-4281-801F-91E865E8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385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READ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2F335D-A606-4CEF-A296-90718341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052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32238"/>
                </a:solidFill>
              </a:defRPr>
            </a:pPr>
            <a:r>
              <a:rPr sz="1200">
                <a:solidFill>
                  <a:srgbClr val="132238"/>
                </a:solidFill>
              </a:rPr>
              <a:t>Medication readiness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B60A38-B913-47A8-BEF7-72DB8C40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529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WRITE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1A1001-2F4D-4BE9-96CC-4CF7EB9E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196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32238"/>
                </a:solidFill>
              </a:defRPr>
            </a:pPr>
            <a:r>
              <a:rPr sz="1200">
                <a:solidFill>
                  <a:srgbClr val="132238"/>
                </a:solidFill>
              </a:rPr>
              <a:t>Acknowledge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0D4D8-F99C-4C62-BAE9-F7C7DECD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809750"/>
            <a:ext cx="2000250" cy="3619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2BBE10-C5EC-4009-AD71-37B91E7D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0955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0">
            <a:solidFill>
              <a:srgbClr val="062B5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DBAEAB-1150-46AD-B915-A7EDBDA3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23837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C8A65B-BECC-4180-ADD5-A17E8C81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861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2B54"/>
                </a:solidFill>
              </a:defRPr>
            </a:pPr>
            <a:r>
              <a:rPr sz="1650" b="1">
                <a:solidFill>
                  <a:srgbClr val="062B54"/>
                </a:solidFill>
              </a:rPr>
              <a:t>Administration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9DF17B-872A-4DE9-B234-3BAF4674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READ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6CBE68-5F9F-4FDD-B13C-1ECD903C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052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32238"/>
                </a:solidFill>
              </a:defRPr>
            </a:pPr>
            <a:r>
              <a:rPr sz="1200">
                <a:solidFill>
                  <a:srgbClr val="132238"/>
                </a:solidFill>
              </a:rPr>
              <a:t>Capacity + analytics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11C091-C0C1-4945-B88B-6A81ECA3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529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WRITE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0977A6A-9FA3-402C-ADF2-8FD5D53D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8196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32238"/>
                </a:solidFill>
              </a:defRPr>
            </a:pPr>
            <a:r>
              <a:rPr sz="1200">
                <a:solidFill>
                  <a:srgbClr val="132238"/>
                </a:solidFill>
              </a:rPr>
              <a:t>Scenario control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917B4A-7FED-42BC-B175-048ED65D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09750"/>
            <a:ext cx="2000250" cy="361950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9EDAF1-7D20-4A1D-BB5C-BA8EB5C6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0955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233C"/>
          </a:solidFill>
          <a:ln xmlns:a="http://schemas.openxmlformats.org/drawingml/2006/main" w="0">
            <a:solidFill>
              <a:srgbClr val="EF233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EF48BB-2A9E-4E75-8225-547C5022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23837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52455CC-8431-469B-97F3-7E5948DF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861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2B54"/>
                </a:solidFill>
              </a:defRPr>
            </a:pPr>
            <a:r>
              <a:rPr sz="1650" b="1">
                <a:solidFill>
                  <a:srgbClr val="062B54"/>
                </a:solidFill>
              </a:rPr>
              <a:t>Blood bank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72494C-1714-438D-BFF7-60D7C369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6385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READ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348A33-1041-456A-884F-A1E62E25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90525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32238"/>
                </a:solidFill>
              </a:defRPr>
            </a:pPr>
            <a:r>
              <a:rPr sz="1200">
                <a:solidFill>
                  <a:srgbClr val="132238"/>
                </a:solidFill>
              </a:rPr>
              <a:t>Transfusion readiness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9D6629-02E0-4DFE-8CC5-6FD240E9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5529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WRITE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21E962-49E4-4B43-876D-0666E752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196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32238"/>
                </a:solidFill>
              </a:defRPr>
            </a:pPr>
            <a:r>
              <a:rPr sz="1200">
                <a:solidFill>
                  <a:srgbClr val="132238"/>
                </a:solidFill>
              </a:rPr>
              <a:t>Acknowledge only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6A49CA-02F3-4A2F-AE56-26B04695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78E8"/>
                </a:solidFill>
              </a:defRPr>
            </a:pPr>
            <a:r>
              <a:rPr sz="1350" b="1">
                <a:solidFill>
                  <a:srgbClr val="0878E8"/>
                </a:solidFill>
              </a:rPr>
              <a:t>Demo role header today  -&gt;  hospital SSO/OIDC and governed access reviews for production</a:t>
            </a:r>
          </a:p>
        </p:txBody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2334106E-DA0D-4F59-AD4E-6E955A81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85"/>
                </a:solidFill>
              </a:defRPr>
            </a:pPr>
            <a:r>
              <a:rPr sz="825">
                <a:solidFill>
                  <a:srgbClr val="5F7085"/>
                </a:solidFill>
              </a:rPr>
              <a:t>PatientTriage.ai  |  Synthetic prototype  |  Not for patient care</a:t>
            </a:r>
          </a:p>
        </p:txBody>
      </p:sp>
    </p:spTree>
    <p:extLst>
      <p:ext uri="{BB962C8B-B14F-4D97-AF65-F5344CB8AC3E}">
        <p14:creationId xmlns:p14="http://schemas.microsoft.com/office/powerpoint/2010/main" val="681829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96A1AB2B-924E-4D50-8541-E6F727A7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8E8"/>
                </a:solidFill>
              </a:defRPr>
            </a:pPr>
            <a:r>
              <a:rPr sz="975" b="1">
                <a:solidFill>
                  <a:srgbClr val="0878E8"/>
                </a:solidFill>
              </a:rPr>
              <a:t>DECISION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A842C6-4B61-4FCD-8B01-53C649E5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2B54"/>
                </a:solidFill>
              </a:defRPr>
            </a:pPr>
            <a:r>
              <a:rPr sz="2700" b="1">
                <a:solidFill>
                  <a:srgbClr val="062B54"/>
                </a:solidFill>
              </a:rPr>
              <a:t>Safety decides the floor; context refines the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1EA44-9A5C-4110-85ED-013DC41A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FE0"/>
          </a:solidFill>
          <a:ln xmlns:a="http://schemas.openxmlformats.org/drawingml/2006/main" w="0">
            <a:solidFill>
              <a:srgbClr val="10BFE0"/>
            </a:solidFill>
            <a:prstDash val="solid"/>
          </a:ln>
        </p:spPr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4B823DD-D5A7-4293-AD89-F437211B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1F985-7CF2-482C-9761-29F897AC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2286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8016D-AE5B-4E7E-96FD-15CFC8FC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24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0">
            <a:solidFill>
              <a:srgbClr val="062B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9B5D8-18CC-4855-B14D-4B9A81BB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AD035-2050-4BC6-B05A-C826B552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717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2B54"/>
                </a:solidFill>
              </a:defRPr>
            </a:pPr>
            <a:r>
              <a:rPr sz="1575" b="1">
                <a:solidFill>
                  <a:srgbClr val="062B54"/>
                </a:solidFill>
              </a:rPr>
              <a:t>Validated 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000E6-9B86-430C-8643-E20CEC5E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99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Ranges, timestamps, missingness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AA5C2-9998-4DB2-A146-F8346BEB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38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BFE0"/>
                </a:solidFill>
              </a:defRPr>
            </a:pPr>
            <a:r>
              <a:rPr sz="2100" b="1">
                <a:solidFill>
                  <a:srgbClr val="10BFE0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B4909-77FA-4F17-964F-F3358E26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286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233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0BE0C-7360-46D0-AD55-CDB18A00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124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233C"/>
          </a:solidFill>
          <a:ln xmlns:a="http://schemas.openxmlformats.org/drawingml/2006/main" w="0">
            <a:solidFill>
              <a:srgbClr val="EF23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7F7C6-0627-493E-A78F-CC9029DB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00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E2887-C5D9-4635-AAAF-84010CA7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717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2B54"/>
                </a:solidFill>
              </a:defRPr>
            </a:pPr>
            <a:r>
              <a:rPr sz="1575" b="1">
                <a:solidFill>
                  <a:srgbClr val="062B54"/>
                </a:solidFill>
              </a:rPr>
              <a:t>Safety floor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84EF78-5B48-4F98-BEFA-1AC1FA62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099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Explicit red flags cannot be downgraded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7D336-C01E-4B9D-967A-D8B559FA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638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BFE0"/>
                </a:solidFill>
              </a:defRPr>
            </a:pPr>
            <a:r>
              <a:rPr sz="2100" b="1">
                <a:solidFill>
                  <a:srgbClr val="10BFE0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57C17-4240-462F-AD25-FA49973D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52625"/>
            <a:ext cx="2286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8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D5182-D869-43E7-ABBB-E485BF90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24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8E8"/>
          </a:solidFill>
          <a:ln xmlns:a="http://schemas.openxmlformats.org/drawingml/2006/main" w="0">
            <a:solidFill>
              <a:srgbClr val="0878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47954-F11C-4D72-97A9-3B383C42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0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44B6D4-18F1-4022-805E-02455A4E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717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2B54"/>
                </a:solidFill>
              </a:defRPr>
            </a:pPr>
            <a:r>
              <a:rPr sz="1575" b="1">
                <a:solidFill>
                  <a:srgbClr val="062B54"/>
                </a:solidFill>
              </a:rPr>
              <a:t>Urgency + CDM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70BAD-81A1-43AA-8697-C604EE70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099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Patient signal plus waiting-set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1AFE2-CD26-4D66-A04A-9E49594B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38425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BFE0"/>
                </a:solidFill>
              </a:defRPr>
            </a:pPr>
            <a:r>
              <a:rPr sz="2100" b="1">
                <a:solidFill>
                  <a:srgbClr val="10BFE0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48B8A9-1C30-4DA4-917B-8856C862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52625"/>
            <a:ext cx="22860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B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67CCBE-1879-4A47-93F7-DB9C836C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24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8A6"/>
          </a:solidFill>
          <a:ln xmlns:a="http://schemas.openxmlformats.org/drawingml/2006/main" w="0">
            <a:solidFill>
              <a:srgbClr val="10B8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D5F87B-2FCD-41A8-83FC-3608EC0C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002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AB9827-3B0F-4736-B949-FF6E4E94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771775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62B54"/>
                </a:solidFill>
              </a:defRPr>
            </a:pPr>
            <a:r>
              <a:rPr sz="1575" b="1">
                <a:solidFill>
                  <a:srgbClr val="062B54"/>
                </a:solidFill>
              </a:rPr>
              <a:t>Monitor + confidence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9B4CF-3BDE-42C1-BCFA-AEC0A255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09925"/>
            <a:ext cx="182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Deterioration, stale data, uncertainty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0CC80-3E5D-4808-884D-564006CB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857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13E1D-49E7-4CCA-A11D-F5F2F160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434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2B54"/>
                </a:solidFill>
              </a:defRPr>
            </a:pPr>
            <a:r>
              <a:rPr sz="1650" b="1">
                <a:solidFill>
                  <a:srgbClr val="062B54"/>
                </a:solidFill>
              </a:rPr>
              <a:t>Final order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2F8AE9-0C83-4908-88E1-ED6ABA43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148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8E8"/>
                </a:solidFill>
              </a:defRPr>
            </a:pPr>
            <a:r>
              <a:rPr sz="1575" b="1">
                <a:solidFill>
                  <a:srgbClr val="0878E8"/>
                </a:solidFill>
              </a:rPr>
              <a:t>Acuity  -&gt;  CDM utility inside acuity  -&gt;  arrival time  -&gt;  deterministic 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B6B6D3-240E-4EE0-8D10-9076487A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F7085"/>
                </a:solidFill>
              </a:defRPr>
            </a:pPr>
            <a:r>
              <a:rPr sz="1275">
                <a:solidFill>
                  <a:srgbClr val="5F7085"/>
                </a:solidFill>
              </a:rPr>
              <a:t>Override remains available and every reason is appended to the tamper-evident audit chain.</a:t>
            </a:r>
          </a:p>
        </p:txBody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8EB61C96-4BA3-41D0-A739-CA8EB5E6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85"/>
                </a:solidFill>
              </a:defRPr>
            </a:pPr>
            <a:r>
              <a:rPr sz="825">
                <a:solidFill>
                  <a:srgbClr val="5F7085"/>
                </a:solidFill>
              </a:rPr>
              <a:t>PatientTriage.ai  |  Synthetic prototype  |  Not for patient care</a:t>
            </a:r>
          </a:p>
        </p:txBody>
      </p:sp>
    </p:spTree>
    <p:extLst>
      <p:ext uri="{BB962C8B-B14F-4D97-AF65-F5344CB8AC3E}">
        <p14:creationId xmlns:p14="http://schemas.microsoft.com/office/powerpoint/2010/main" val="10445327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eyebrow">
            <a:extLst xmlns:a="http://schemas.openxmlformats.org/drawingml/2006/main">
              <a:ext uri="{FF2B5EF4-FFF2-40B4-BE49-F238E27FC236}">
                <a16:creationId xmlns:a16="http://schemas.microsoft.com/office/drawing/2014/main" id="{F49D1329-1706-4747-9779-28D1E6BC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8E8"/>
                </a:solidFill>
              </a:defRPr>
            </a:pPr>
            <a:r>
              <a:rPr sz="975" b="1">
                <a:solidFill>
                  <a:srgbClr val="0878E8"/>
                </a:solidFill>
              </a:rPr>
              <a:t>NURSE EXPERIENCE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A688F5-4CEE-4372-BB41-EC3E9AA3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2B54"/>
                </a:solidFill>
              </a:defRPr>
            </a:pPr>
            <a:r>
              <a:rPr sz="2700" b="1">
                <a:solidFill>
                  <a:srgbClr val="062B54"/>
                </a:solidFill>
              </a:rPr>
              <a:t>The 18-bed board makes emergency state visible at a glance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4BE47-8E23-44EF-965F-8583DFE7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FE0"/>
          </a:solidFill>
          <a:ln xmlns:a="http://schemas.openxmlformats.org/drawingml/2006/main" w="0">
            <a:solidFill>
              <a:srgbClr val="10BFE0"/>
            </a:solidFill>
            <a:prstDash val="solid"/>
          </a:ln>
        </p:spPr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5DAC8AF-AD7C-4C95-90F0-7349C415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DAB613-C4B5-489B-9B09-D5E96EDF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478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F233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44C7D-7F82-4FB6-AB16-8B290A79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621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BA6BC-7D6B-4BCA-86CF-FEA28F83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050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5D240-137C-4BE6-8777-7F6DA392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478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F233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E621B-E945-4690-BDFD-C9C25970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621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90D1EF-259A-4CCD-A5F3-D211C9E8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050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CF99C3-E22D-4D20-B4B0-76FE3326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DD9AF-FC68-4B7F-8E08-9344F15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ED1B43-FD58-4FDF-8909-5CE1566E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82F75B-F4A1-41AD-9AB4-85B8D7C2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478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629EE-2991-4923-A172-FAD817A3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F3E45-2E24-4189-A843-4F1C7087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050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6389E-0017-4D3C-A300-6C02BA39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8478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878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1740A-22A3-47B2-821D-7F869833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621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D9A17-E071-4BDC-B671-BCA59AA1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050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8E8F9B-18A8-49B3-9173-77CE16B7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478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620A3-938B-4C77-B960-7FBCACD6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621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3A237E-7891-4956-8788-6912E1AC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050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EMPTY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CE3B0-CA12-492D-9D3C-79A85E0A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527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5F56E-48D4-4724-A32B-752C0799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670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B64172-FA34-45CD-A432-8D06CF0D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09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4F84E6-A912-4003-81C2-EE0D07B5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527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62D56A-5B30-4C70-AEC5-F68A8F09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670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005B69-16EA-4AE5-8A2F-D4ECB32E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09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P09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3F985-DF8A-4C99-9400-D3813795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578EAF-A06E-4191-93FA-9640F68F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670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ED-09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018543-10A3-46AF-A377-0FC1BA22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09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3F1466-1597-4141-B912-692E1FF0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527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878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F79B129-0505-4DC6-B469-D4D5364A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670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EA2878-526F-4C0F-A0AA-65356B0B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09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624D80-4F6C-41E2-A7CD-C9EE6345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527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71809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9F9A72-3800-4C35-B0BE-93B26DB8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670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76F6EF-0CCB-44F3-8234-9C4D5AD8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09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P18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F64FBA-DF22-45C5-A8D5-F2ED4732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527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61C50E-FC95-4663-AB0E-EE75841F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670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ED-12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464473-3CC6-4E2D-87D7-3E0EA806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09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EMPTY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C308E3-D8D9-4AA4-8E40-926D0D88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576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F233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633085-E5B1-4780-A0AA-AC8005FB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71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4B6132-8677-4FC2-B7F9-F832493A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148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DAA783-CA0D-420C-83F1-9264D78C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576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9731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23B6F3-D267-447C-841F-B0155442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71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ED-14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2A9AE75-106C-440B-828D-DAF9BD76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148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P08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D8F4B4-D08D-4A44-B7A2-EBBB5549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576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46B099-6405-4181-85EE-1749A766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71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ED-15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2BABE9-83A7-4678-A9EB-9B0F6571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48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P13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45702B-E432-4772-B354-910DB746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576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878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1189D-A25D-4D9F-84ED-4D0399D9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ED-16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9FAE98-725A-47E8-B108-77A05E1F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148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P17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2C9BB6-0CD3-4438-8AAE-1C396A8C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576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71809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A265DB-5613-46C8-8D20-5DC8CFA5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71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ED-17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F5C358-00B6-4B97-96DF-D1A4043B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148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P20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04BC60-B548-4802-9222-40A12AD7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57650"/>
            <a:ext cx="1295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D9C5BC-20F3-4B63-BAB8-A2EF5D24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719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ED-18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A90094-F0DB-45F9-94D7-3EC5C0E8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14850"/>
            <a:ext cx="1104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FFFFFF"/>
                </a:solidFill>
              </a:defRPr>
            </a:pPr>
            <a:r>
              <a:rPr sz="1125">
                <a:solidFill>
                  <a:srgbClr val="FFFFFF"/>
                </a:solidFill>
              </a:rPr>
              <a:t>EMPTY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33268F-F403-4D88-835C-C4F3B21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7085"/>
                </a:solidFill>
              </a:defRPr>
            </a:pPr>
            <a:r>
              <a:rPr sz="975" b="1">
                <a:solidFill>
                  <a:srgbClr val="5F7085"/>
                </a:solidFill>
              </a:rPr>
              <a:t>RESUS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D098F4F-4FC3-487A-8C90-08A4DAF6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7085"/>
                </a:solidFill>
              </a:defRPr>
            </a:pPr>
            <a:r>
              <a:rPr sz="975" b="1">
                <a:solidFill>
                  <a:srgbClr val="5F7085"/>
                </a:solidFill>
              </a:rPr>
              <a:t>ACUTE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FEFCBE3-B3B8-4C5F-8B82-46A9F3D8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7085"/>
                </a:solidFill>
              </a:defRPr>
            </a:pPr>
            <a:r>
              <a:rPr sz="975" b="1">
                <a:solidFill>
                  <a:srgbClr val="5F7085"/>
                </a:solidFill>
              </a:rPr>
              <a:t>OBSERVATION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D08AFA-C8F6-4780-B678-ABBCB6E5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91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646634-1A79-428C-AF0A-F87E64D5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721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238"/>
                </a:solidFill>
              </a:defRPr>
            </a:pPr>
            <a:r>
              <a:rPr sz="1050">
                <a:solidFill>
                  <a:srgbClr val="132238"/>
                </a:solidFill>
              </a:rPr>
              <a:t>Available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67BC124-AA1B-4CB6-B589-BA5F3221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91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233C"/>
          </a:solidFill>
          <a:ln xmlns:a="http://schemas.openxmlformats.org/drawingml/2006/main" w="0">
            <a:solidFill>
              <a:srgbClr val="EF233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A18CDA0-6E9E-47DA-9AC1-B6D0DC0F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721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238"/>
                </a:solidFill>
              </a:defRPr>
            </a:pPr>
            <a:r>
              <a:rPr sz="1050">
                <a:solidFill>
                  <a:srgbClr val="132238"/>
                </a:solidFill>
              </a:rPr>
              <a:t>Critical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F2A099-7FA8-4D75-814E-30B50F5F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91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0A33B5-E63D-46A8-BCC8-228F9ED4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721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238"/>
                </a:solidFill>
              </a:defRPr>
            </a:pPr>
            <a:r>
              <a:rPr sz="1050">
                <a:solidFill>
                  <a:srgbClr val="132238"/>
                </a:solidFill>
              </a:rPr>
              <a:t>Emergent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132A06B-B82F-4304-84BC-62EB4203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91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01D6DA0-A49D-415E-8DB6-CCC81C3F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721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238"/>
                </a:solidFill>
              </a:defRPr>
            </a:pPr>
            <a:r>
              <a:rPr sz="1050">
                <a:solidFill>
                  <a:srgbClr val="132238"/>
                </a:solidFill>
              </a:rPr>
              <a:t>Urgent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61C97F-6570-457B-9804-27836F4E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391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8E8"/>
          </a:solidFill>
          <a:ln xmlns:a="http://schemas.openxmlformats.org/drawingml/2006/main" w="0">
            <a:solidFill>
              <a:srgbClr val="0878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A36FED9-1A15-4AFF-A759-EFAEE731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721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238"/>
                </a:solidFill>
              </a:defRPr>
            </a:pPr>
            <a:r>
              <a:rPr sz="1050">
                <a:solidFill>
                  <a:srgbClr val="132238"/>
                </a:solidFill>
              </a:rPr>
              <a:t>Less urgent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A1B9339-8612-4509-BD59-96E71965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3911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718096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14843C8-A085-4FB4-9302-236F4CF4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72100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32238"/>
                </a:solidFill>
              </a:defRPr>
            </a:pPr>
            <a:r>
              <a:rPr sz="1050">
                <a:solidFill>
                  <a:srgbClr val="132238"/>
                </a:solidFill>
              </a:rPr>
              <a:t>Non-urgent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02F732D-62F4-4B70-8A56-6113C953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769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B54"/>
                </a:solidFill>
              </a:defRPr>
            </a:pPr>
            <a:r>
              <a:rPr sz="1350" b="1">
                <a:solidFill>
                  <a:srgbClr val="062B54"/>
                </a:solidFill>
              </a:rPr>
              <a:t>Select a bed for patient detail; switch to patient-wise view for explanations and missing information.</a:t>
            </a:r>
          </a:p>
        </p:txBody>
      </p:sp>
      <p:sp>
        <p:nvSpPr>
          <p:cNvPr id="75" name="footer">
            <a:extLst xmlns:a="http://schemas.openxmlformats.org/drawingml/2006/main">
              <a:ext uri="{FF2B5EF4-FFF2-40B4-BE49-F238E27FC236}">
                <a16:creationId xmlns:a16="http://schemas.microsoft.com/office/drawing/2014/main" id="{6F8A37A7-2F31-49B1-9D4F-C05FBC90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85"/>
                </a:solidFill>
              </a:defRPr>
            </a:pPr>
            <a:r>
              <a:rPr sz="825">
                <a:solidFill>
                  <a:srgbClr val="5F7085"/>
                </a:solidFill>
              </a:rPr>
              <a:t>PatientTriage.ai  |  Synthetic prototype  |  Not for patient care</a:t>
            </a:r>
          </a:p>
        </p:txBody>
      </p:sp>
    </p:spTree>
    <p:extLst>
      <p:ext uri="{BB962C8B-B14F-4D97-AF65-F5344CB8AC3E}">
        <p14:creationId xmlns:p14="http://schemas.microsoft.com/office/powerpoint/2010/main" val="1277247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B1EDA0D5-926E-444B-ACC1-A464B7AA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8E8"/>
                </a:solidFill>
              </a:defRPr>
            </a:pPr>
            <a:r>
              <a:rPr sz="975" b="1">
                <a:solidFill>
                  <a:srgbClr val="0878E8"/>
                </a:solidFill>
              </a:rPr>
              <a:t>PROTOTYPE STORY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1E6DB6-C195-46D0-9F08-0570DBEA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2B54"/>
                </a:solidFill>
              </a:defRPr>
            </a:pPr>
            <a:r>
              <a:rPr sz="2700" b="1">
                <a:solidFill>
                  <a:srgbClr val="062B54"/>
                </a:solidFill>
              </a:rPr>
              <a:t>One demo proves the queue is alive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8851C-8BA9-4666-9A49-902AC687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FE0"/>
          </a:solidFill>
          <a:ln xmlns:a="http://schemas.openxmlformats.org/drawingml/2006/main" w="0">
            <a:solidFill>
              <a:srgbClr val="10BFE0"/>
            </a:solidFill>
            <a:prstDash val="solid"/>
          </a:ln>
        </p:spPr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7569715-D321-48B5-996C-D7DC43A1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9E1AF-3DCF-4DEF-95EF-68584AA5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78E8"/>
          </a:solidFill>
          <a:ln xmlns:a="http://schemas.openxmlformats.org/drawingml/2006/main" w="0">
            <a:solidFill>
              <a:srgbClr val="0878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2E84E-89BA-40D2-A451-CE0E9F63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3832B-2E14-4440-A52F-4292D321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B54"/>
                </a:solidFill>
              </a:defRPr>
            </a:pPr>
            <a:r>
              <a:rPr sz="1500" b="1">
                <a:solidFill>
                  <a:srgbClr val="062B54"/>
                </a:solidFill>
              </a:rPr>
              <a:t>Initial queue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DDE12-59B9-4031-96AF-2A3090A3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1621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20 synthetic cases with uncertainty and red flags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783BF-A2E0-43F9-B83D-8CCF4E7A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669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233C"/>
          </a:solidFill>
          <a:ln xmlns:a="http://schemas.openxmlformats.org/drawingml/2006/main" w="0">
            <a:solidFill>
              <a:srgbClr val="EF23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27BC6-96F4-4B89-A600-76BFB1DB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621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1ECB1-D302-4C6B-8465-9629BC78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478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B54"/>
                </a:solidFill>
              </a:defRPr>
            </a:pPr>
            <a:r>
              <a:rPr sz="1500" b="1">
                <a:solidFill>
                  <a:srgbClr val="062B54"/>
                </a:solidFill>
              </a:rPr>
              <a:t>Deterioration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B4926-3A2D-4D0F-8F80-C11974D2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621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New observations move a waiting patient upward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6B9002-6488-43A6-A0BE-2B5A0550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8669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7316"/>
          </a:solidFill>
          <a:ln xmlns:a="http://schemas.openxmlformats.org/drawingml/2006/main" w="0">
            <a:solidFill>
              <a:srgbClr val="F9731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1B249-3844-44F3-BFC2-F6DCB85F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621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D29AC-DE35-469C-B5BB-6B920B6B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478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B54"/>
                </a:solidFill>
              </a:defRPr>
            </a:pPr>
            <a:r>
              <a:rPr sz="1500" b="1">
                <a:solidFill>
                  <a:srgbClr val="062B54"/>
                </a:solidFill>
              </a:rPr>
              <a:t>Override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F1E39A-1684-4EA6-9C8E-188876D0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621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Doctor moves a patient with a mandatory reason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6D7DF9-4AB8-40C2-A760-C07A0A61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B54"/>
          </a:solidFill>
          <a:ln xmlns:a="http://schemas.openxmlformats.org/drawingml/2006/main" w="0">
            <a:solidFill>
              <a:srgbClr val="062B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83D3C-3E2F-4426-9D32-B01608B0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BE816-46EC-4B2D-920A-1B804267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243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B54"/>
                </a:solidFill>
              </a:defRPr>
            </a:pPr>
            <a:r>
              <a:rPr sz="1500" b="1">
                <a:solidFill>
                  <a:srgbClr val="062B54"/>
                </a:solidFill>
              </a:rPr>
              <a:t>3x surge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4AE99-B6FF-4CEC-8546-E87B470B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2386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60 patients change pressure and reassessment burden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DF9E4-9238-4A33-9BDA-9649AE4A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43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18096"/>
          </a:solidFill>
          <a:ln xmlns:a="http://schemas.openxmlformats.org/drawingml/2006/main" w="0">
            <a:solidFill>
              <a:srgbClr val="71809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B93474-9FD7-49DB-A870-130C2C46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296EC-89AF-49E6-A93F-4D265A72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243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B54"/>
                </a:solidFill>
              </a:defRPr>
            </a:pPr>
            <a:r>
              <a:rPr sz="1500" b="1">
                <a:solidFill>
                  <a:srgbClr val="062B54"/>
                </a:solidFill>
              </a:rPr>
              <a:t>Model failure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6A41D-52D7-4071-BE80-D98C97A1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386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Rules remain active; rows become stale and manual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FB3D3-2FB4-4F76-9B78-B38C5115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8A6"/>
          </a:solidFill>
          <a:ln xmlns:a="http://schemas.openxmlformats.org/drawingml/2006/main" w="0">
            <a:solidFill>
              <a:srgbClr val="10B8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9FA6DC-15BA-416E-8FE2-50E7D470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386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930F9F-97AB-4852-B088-2EC43B0D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243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2B54"/>
                </a:solidFill>
              </a:defRPr>
            </a:pPr>
            <a:r>
              <a:rPr sz="1500" b="1">
                <a:solidFill>
                  <a:srgbClr val="062B54"/>
                </a:solidFill>
              </a:rPr>
              <a:t>Audit proof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382288-0C95-448C-9F2E-01BC8297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3862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Verify the hash chain and model version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E3425E-A8C3-4308-92FD-7A322A83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721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Same patients. New context. New order. Every change is visible.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33A75AC3-BBE4-434A-B540-8196D61D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85"/>
                </a:solidFill>
              </a:defRPr>
            </a:pPr>
            <a:r>
              <a:rPr sz="825">
                <a:solidFill>
                  <a:srgbClr val="5F7085"/>
                </a:solidFill>
              </a:rPr>
              <a:t>PatientTriage.ai  |  Synthetic prototype  |  Not for patient care</a:t>
            </a:r>
          </a:p>
        </p:txBody>
      </p:sp>
    </p:spTree>
    <p:extLst>
      <p:ext uri="{BB962C8B-B14F-4D97-AF65-F5344CB8AC3E}">
        <p14:creationId xmlns:p14="http://schemas.microsoft.com/office/powerpoint/2010/main" val="10115966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9C8A120D-2FD5-4431-9E96-00CA8776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8E8"/>
                </a:solidFill>
              </a:defRPr>
            </a:pPr>
            <a:r>
              <a:rPr sz="975" b="1">
                <a:solidFill>
                  <a:srgbClr val="0878E8"/>
                </a:solidFill>
              </a:rPr>
              <a:t>EVIDENCE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F4D604-5CC0-41A8-8793-56489440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2B54"/>
                </a:solidFill>
              </a:defRPr>
            </a:pPr>
            <a:r>
              <a:rPr sz="2700" b="1">
                <a:solidFill>
                  <a:srgbClr val="062B54"/>
                </a:solidFill>
              </a:rPr>
              <a:t>The benchmark exposes trade-offs instead of forcing a fake 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D50D4-FE52-4D21-B6E0-5DD7B0C4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FE0"/>
          </a:solidFill>
          <a:ln xmlns:a="http://schemas.openxmlformats.org/drawingml/2006/main" w="0">
            <a:solidFill>
              <a:srgbClr val="10BFE0"/>
            </a:solidFill>
            <a:prstDash val="solid"/>
          </a:ln>
        </p:spPr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63C0DB5D-C175-41EB-B739-A81A69CB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09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742950" y="177165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6fcf8b026f4547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2239E-6E70-421F-A292-7ACAA45C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524250" cy="37147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D9DC0-8E73-44A6-AB5E-E8A36D50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33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B54"/>
                </a:solidFill>
              </a:defRPr>
            </a:pPr>
            <a:r>
              <a:rPr sz="1800" b="1">
                <a:solidFill>
                  <a:srgbClr val="062B54"/>
                </a:solidFill>
              </a:rPr>
              <a:t>What the result means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4BF44-F376-482F-81E3-84F1839B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B8A6"/>
                </a:solidFill>
              </a:defRPr>
            </a:pPr>
            <a:r>
              <a:rPr sz="1575" b="1">
                <a:solidFill>
                  <a:srgbClr val="10B8A6"/>
                </a:solidFill>
              </a:rPr>
              <a:t>PatientTriage ties acuity priority on this static safety metric.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EDC7F-4DF1-45A4-B708-8CB7F5EC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2800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32238"/>
                </a:solidFill>
              </a:defRPr>
            </a:pPr>
            <a:r>
              <a:rPr sz="1350">
                <a:solidFill>
                  <a:srgbClr val="132238"/>
                </a:solidFill>
              </a:rPr>
              <a:t>SJF-like completes more short jobs but delays critical care. FCFS protects arrival order, not urgency.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B2857-F5C0-400D-BB81-FEDF3AEC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78E8"/>
                </a:solidFill>
              </a:defRPr>
            </a:pPr>
            <a:r>
              <a:rPr sz="1275" b="1">
                <a:solidFill>
                  <a:srgbClr val="0878E8"/>
                </a:solidFill>
              </a:rPr>
              <a:t>The differentiator is dynamic monitoring, uncertainty, fail-safe operation, permissions, and audited override.</a:t>
            </a:r>
          </a:p>
        </p:txBody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E73B58EA-E9CC-403B-AAC6-01AB6167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85"/>
                </a:solidFill>
              </a:defRPr>
            </a:pPr>
            <a:r>
              <a:rPr sz="825">
                <a:solidFill>
                  <a:srgbClr val="5F7085"/>
                </a:solidFill>
              </a:rPr>
              <a:t>PatientTriage.ai  |  Synthetic prototype  |  Not for patient care</a:t>
            </a:r>
          </a:p>
        </p:txBody>
      </p:sp>
    </p:spTree>
    <p:extLst>
      <p:ext uri="{BB962C8B-B14F-4D97-AF65-F5344CB8AC3E}">
        <p14:creationId xmlns:p14="http://schemas.microsoft.com/office/powerpoint/2010/main" val="2030819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4A90AAC7-8DAC-4672-A2B8-51AF4D32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8E8"/>
                </a:solidFill>
              </a:defRPr>
            </a:pPr>
            <a:r>
              <a:rPr sz="975" b="1">
                <a:solidFill>
                  <a:srgbClr val="0878E8"/>
                </a:solidFill>
              </a:rPr>
              <a:t>SCALABILITY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A410BC-FD4A-4F93-8AF6-F2107A51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2B54"/>
                </a:solidFill>
              </a:defRPr>
            </a:pPr>
            <a:r>
              <a:rPr sz="2700" b="1">
                <a:solidFill>
                  <a:srgbClr val="062B54"/>
                </a:solidFill>
              </a:rPr>
              <a:t>Measured latency supports a staged path to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6CB5D-7380-489D-985C-52412751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FE0"/>
          </a:solidFill>
          <a:ln xmlns:a="http://schemas.openxmlformats.org/drawingml/2006/main" w="0">
            <a:solidFill>
              <a:srgbClr val="10BFE0"/>
            </a:solidFill>
            <a:prstDash val="solid"/>
          </a:ln>
        </p:spPr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37CFFC6-5237-4B1A-8D4C-3E30D3C6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10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42950" y="1752600"/>
          <a:ext xmlns:a="http://schemas.openxmlformats.org/drawingml/2006/main" cx="5810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c231310dff40e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45088-B9B7-441A-A339-E695F00A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1809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6DBE8-84FD-47C3-AD60-5FC49765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24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2B54"/>
                </a:solidFill>
              </a:defRPr>
            </a:pPr>
            <a:r>
              <a:rPr sz="1425" b="1">
                <a:solidFill>
                  <a:srgbClr val="062B54"/>
                </a:solidFill>
              </a:rPr>
              <a:t>Hackathon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D9DA8-6812-4566-8317-1C901EF0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050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FastAPI + Streamlit</a:t>
            </a:r>
          </a:p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In-memory + SQLite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BA8DF6-B087-4C27-BBA1-CA1910F2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8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758DA4-2616-44D2-B6EE-06A42C75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95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2B54"/>
                </a:solidFill>
              </a:defRPr>
            </a:pPr>
            <a:r>
              <a:rPr sz="1425" b="1">
                <a:solidFill>
                  <a:srgbClr val="062B54"/>
                </a:solidFill>
              </a:rPr>
              <a:t>Shadow pilot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BD2DD-265C-41E4-889D-48324C75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7655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Stateless API + Postgres</a:t>
            </a:r>
          </a:p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OIDC + centralized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75936-22FC-4260-8DAF-5EFDF833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5285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B8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1A017-59A5-487D-824B-B3796EDD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867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2B54"/>
                </a:solidFill>
              </a:defRPr>
            </a:pPr>
            <a:r>
              <a:rPr sz="1425" b="1">
                <a:solidFill>
                  <a:srgbClr val="062B54"/>
                </a:solidFill>
              </a:rPr>
              <a:t>Production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720A3-25AD-4DB5-8565-A7ABB95B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4810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Durable events + recovery</a:t>
            </a:r>
          </a:p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Observability + security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8973F-53BD-4DB8-8920-96363017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24400"/>
            <a:ext cx="4000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2C690-64EF-42CB-9309-91A8176E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838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62B54"/>
                </a:solidFill>
              </a:defRPr>
            </a:pPr>
            <a:r>
              <a:rPr sz="1425" b="1">
                <a:solidFill>
                  <a:srgbClr val="062B54"/>
                </a:solidFill>
              </a:rPr>
              <a:t>Multi-site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4E6C5-9F5F-42D0-B908-D5AF298E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819650"/>
            <a:ext cx="1952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Tenant isolation</a:t>
            </a:r>
          </a:p>
          <a:p xmlns:a="http://schemas.openxmlformats.org/drawingml/2006/main">
            <a:pPr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Site configs + regional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25F9A-DC11-4E0E-B35C-E2A488E2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38800"/>
            <a:ext cx="9906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3784D-5AE0-4EA2-9BC0-82B8C759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929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2B54"/>
                </a:solidFill>
              </a:defRPr>
            </a:pPr>
            <a:r>
              <a:rPr sz="1350" b="1">
                <a:solidFill>
                  <a:srgbClr val="062B54"/>
                </a:solidFill>
              </a:rPr>
              <a:t>Microbenchmark only - network, database, identity, concurrency, and telemetry are excluded.</a:t>
            </a:r>
          </a:p>
        </p:txBody>
      </p:sp>
      <p:sp>
        <p:nvSpPr>
          <p:cNvPr id="20" name="footer">
            <a:extLst xmlns:a="http://schemas.openxmlformats.org/drawingml/2006/main">
              <a:ext uri="{FF2B5EF4-FFF2-40B4-BE49-F238E27FC236}">
                <a16:creationId xmlns:a16="http://schemas.microsoft.com/office/drawing/2014/main" id="{F1766CA8-7F20-4CA8-B30C-BFEAC451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85"/>
                </a:solidFill>
              </a:defRPr>
            </a:pPr>
            <a:r>
              <a:rPr sz="825">
                <a:solidFill>
                  <a:srgbClr val="5F7085"/>
                </a:solidFill>
              </a:rPr>
              <a:t>PatientTriage.ai  |  Synthetic prototype  |  Not for patient care</a:t>
            </a:r>
          </a:p>
        </p:txBody>
      </p:sp>
    </p:spTree>
    <p:extLst>
      <p:ext uri="{BB962C8B-B14F-4D97-AF65-F5344CB8AC3E}">
        <p14:creationId xmlns:p14="http://schemas.microsoft.com/office/powerpoint/2010/main" val="17674750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58B8C40-AB3D-4B68-B009-B564261B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8E8"/>
                </a:solidFill>
              </a:defRPr>
            </a:pPr>
            <a:r>
              <a:rPr sz="975" b="1">
                <a:solidFill>
                  <a:srgbClr val="0878E8"/>
                </a:solidFill>
              </a:rPr>
              <a:t>REGULATION AND TRUST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242E58-66AF-4EE6-96CA-BF4EDA74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2B54"/>
                </a:solidFill>
              </a:defRPr>
            </a:pPr>
            <a:r>
              <a:rPr sz="2700" b="1">
                <a:solidFill>
                  <a:srgbClr val="062B54"/>
                </a:solidFill>
              </a:rPr>
              <a:t>Governance choices reduce risk before any real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797738-96FC-4A07-BBA2-657FFC5F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FE0"/>
          </a:solidFill>
          <a:ln xmlns:a="http://schemas.openxmlformats.org/drawingml/2006/main" w="0">
            <a:solidFill>
              <a:srgbClr val="10BFE0"/>
            </a:solidFill>
            <a:prstDash val="solid"/>
          </a:ln>
        </p:spPr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0BF00DA8-55E1-4298-98F8-DCB8ECCA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1C820-1430-4FBA-AD81-D6143085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8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523C0-784F-414D-9CB5-39B13C65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878E8"/>
                </a:solidFill>
              </a:defRPr>
            </a:pPr>
            <a:r>
              <a:rPr sz="2550" b="1">
                <a:solidFill>
                  <a:srgbClr val="0878E8"/>
                </a:solidFill>
              </a:rPr>
              <a:t>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86314-FB66-4307-919F-1ADD3BA5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32238"/>
                </a:solidFill>
              </a:defRPr>
            </a:pPr>
            <a:r>
              <a:rPr sz="1425">
                <a:solidFill>
                  <a:srgbClr val="132238"/>
                </a:solidFill>
              </a:rPr>
              <a:t>HIPAA security</a:t>
            </a:r>
          </a:p>
          <a:p xmlns:a="http://schemas.openxmlformats.org/drawingml/2006/main">
            <a:pPr algn="ctr">
              <a:defRPr sz="1425">
                <a:solidFill>
                  <a:srgbClr val="132238"/>
                </a:solidFill>
              </a:defRPr>
            </a:pPr>
            <a:r>
              <a:rPr sz="1425">
                <a:solidFill>
                  <a:srgbClr val="132238"/>
                </a:solidFill>
              </a:rPr>
              <a:t>FDA CDS analysis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7F1D8-EB80-4FE3-9B52-A8AC4D70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79A33-5C0E-445D-B9CA-C1E7F89F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B8A6"/>
                </a:solidFill>
              </a:defRPr>
            </a:pPr>
            <a:r>
              <a:rPr sz="2550" b="1">
                <a:solidFill>
                  <a:srgbClr val="10B8A6"/>
                </a:solidFill>
              </a:rPr>
              <a:t>UK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24523-6B23-4A0B-A938-B36024D7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813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32238"/>
                </a:solidFill>
              </a:defRPr>
            </a:pPr>
            <a:r>
              <a:rPr sz="1425">
                <a:solidFill>
                  <a:srgbClr val="132238"/>
                </a:solidFill>
              </a:rPr>
              <a:t>UK GDPR health data</a:t>
            </a:r>
          </a:p>
          <a:p xmlns:a="http://schemas.openxmlformats.org/drawingml/2006/main">
            <a:pPr algn="ctr">
              <a:defRPr sz="1425">
                <a:solidFill>
                  <a:srgbClr val="132238"/>
                </a:solidFill>
              </a:defRPr>
            </a:pPr>
            <a:r>
              <a:rPr sz="1425">
                <a:solidFill>
                  <a:srgbClr val="132238"/>
                </a:solidFill>
              </a:rPr>
              <a:t>MHRA + DCB0129/0160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6F82E0-82D0-41B0-8FF7-128EF4E4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D87C8-39D4-42AB-83F2-87575746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62B54"/>
                </a:solidFill>
              </a:defRPr>
            </a:pPr>
            <a:r>
              <a:rPr sz="2550" b="1">
                <a:solidFill>
                  <a:srgbClr val="062B54"/>
                </a:solidFill>
              </a:rPr>
              <a:t>EU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4EEAE-29FC-48AF-BBCB-CB0D5CF8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132238"/>
                </a:solidFill>
              </a:defRPr>
            </a:pPr>
            <a:r>
              <a:rPr sz="1425">
                <a:solidFill>
                  <a:srgbClr val="132238"/>
                </a:solidFill>
              </a:rPr>
              <a:t>GDPR + MDR/MDCG</a:t>
            </a:r>
          </a:p>
          <a:p xmlns:a="http://schemas.openxmlformats.org/drawingml/2006/main">
            <a:pPr algn="ctr">
              <a:defRPr sz="1425">
                <a:solidFill>
                  <a:srgbClr val="132238"/>
                </a:solidFill>
              </a:defRPr>
            </a:pPr>
            <a:r>
              <a:rPr sz="1425">
                <a:solidFill>
                  <a:srgbClr val="132238"/>
                </a:solidFill>
              </a:rPr>
              <a:t>EU AI Act framework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A78387-ED1A-4881-90B0-FAD0AC2D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0477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87263-7331-44D8-80FA-8DF3A154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2B54"/>
                </a:solidFill>
              </a:defRPr>
            </a:pPr>
            <a:r>
              <a:rPr sz="1875" b="1">
                <a:solidFill>
                  <a:srgbClr val="062B54"/>
                </a:solidFill>
              </a:rPr>
              <a:t>Blockchain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3072E-70E8-48A6-A092-AD790691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97316"/>
                </a:solidFill>
              </a:defRPr>
            </a:pPr>
            <a:r>
              <a:rPr sz="2175" b="1">
                <a:solidFill>
                  <a:srgbClr val="F97316"/>
                </a:solidFill>
              </a:rPr>
              <a:t>No blockchain in the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5D5A90-33D5-4482-A653-6E60388B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0530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32238"/>
                </a:solidFill>
              </a:defRPr>
            </a:pPr>
            <a:r>
              <a:rPr sz="1200">
                <a:solidFill>
                  <a:srgbClr val="132238"/>
                </a:solidFill>
              </a:rPr>
              <a:t>Keep the hash-chained audit. Revisit permissioned Raft or SmartBFT only for a real multi-institution trust problem - never store PHI on-chain.</a:t>
            </a:r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494F5FBC-3EE9-4AE0-BCC1-E5E6DDC1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85"/>
                </a:solidFill>
              </a:defRPr>
            </a:pPr>
            <a:r>
              <a:rPr sz="825">
                <a:solidFill>
                  <a:srgbClr val="5F7085"/>
                </a:solidFill>
              </a:rPr>
              <a:t>PatientTriage.ai  |  Synthetic prototype  |  Not for patient care</a:t>
            </a:r>
          </a:p>
        </p:txBody>
      </p:sp>
    </p:spTree>
    <p:extLst>
      <p:ext uri="{BB962C8B-B14F-4D97-AF65-F5344CB8AC3E}">
        <p14:creationId xmlns:p14="http://schemas.microsoft.com/office/powerpoint/2010/main" val="18933040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1F8A8848-CB3A-4034-A864-E4FF1D60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78E8"/>
                </a:solidFill>
              </a:defRPr>
            </a:pPr>
            <a:r>
              <a:rPr sz="975" b="1">
                <a:solidFill>
                  <a:srgbClr val="0878E8"/>
                </a:solidFill>
              </a:rPr>
              <a:t>BUSINESS AND ECONOMICS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55BC50-EF70-482A-B0E0-FD750A65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62B54"/>
                </a:solidFill>
              </a:defRPr>
            </a:pPr>
            <a:r>
              <a:rPr sz="2700" b="1">
                <a:solidFill>
                  <a:srgbClr val="062B54"/>
                </a:solidFill>
              </a:rPr>
              <a:t>A 12-week shadow pilot converts a demo into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B2EA3-C65D-457E-B5A3-CFEBEA26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FE0"/>
          </a:solidFill>
          <a:ln xmlns:a="http://schemas.openxmlformats.org/drawingml/2006/main" w="0">
            <a:solidFill>
              <a:srgbClr val="10BFE0"/>
            </a:solidFill>
            <a:prstDash val="solid"/>
          </a:ln>
        </p:spPr>
      </p:sp>
      <p:sp>
        <p:nvSpPr>
          <p:cNvPr id="4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BCB10B45-3586-4E23-AE45-40FF7DEB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7085"/>
                </a:solidFill>
              </a:defRPr>
            </a:pPr>
            <a:r>
              <a:rPr sz="900" b="1">
                <a:solidFill>
                  <a:srgbClr val="5F7085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5A09F-9221-4BEA-902E-F34BBF19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0193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62B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C7B42-CFB8-4A24-BBD9-1A1D41C0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62B54"/>
                </a:solidFill>
              </a:defRPr>
            </a:pPr>
            <a:r>
              <a:rPr sz="1275" b="1">
                <a:solidFill>
                  <a:srgbClr val="062B54"/>
                </a:solidFill>
              </a:rPr>
              <a:t>Weeks 1-2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8E5E7-9522-4B58-B588-9D3E8E8A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2B54"/>
                </a:solidFill>
              </a:defRPr>
            </a:pPr>
            <a:r>
              <a:rPr sz="1500" b="1">
                <a:solidFill>
                  <a:srgbClr val="062B54"/>
                </a:solidFill>
              </a:rPr>
              <a:t>Scope + hazards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86DC2-5B5E-453E-A641-13BD8A0A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20193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87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216AB-7076-4B8A-80FA-43F19051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71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8E8"/>
                </a:solidFill>
              </a:defRPr>
            </a:pPr>
            <a:r>
              <a:rPr sz="1275" b="1">
                <a:solidFill>
                  <a:srgbClr val="0878E8"/>
                </a:solidFill>
              </a:rPr>
              <a:t>Weeks 3-5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6D734-471E-41B7-B62F-04597D4C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2B54"/>
                </a:solidFill>
              </a:defRPr>
            </a:pPr>
            <a:r>
              <a:rPr sz="1500" b="1">
                <a:solidFill>
                  <a:srgbClr val="062B54"/>
                </a:solidFill>
              </a:rPr>
              <a:t>Identity + integration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9E417-D538-49CE-87F8-E0265C5D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90700"/>
            <a:ext cx="20193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AAE21-2803-4AAE-9025-49D374B0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71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B8A6"/>
                </a:solidFill>
              </a:defRPr>
            </a:pPr>
            <a:r>
              <a:rPr sz="1275" b="1">
                <a:solidFill>
                  <a:srgbClr val="10B8A6"/>
                </a:solidFill>
              </a:rPr>
              <a:t>Weeks 6-8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6DC15-4094-4937-A2A2-2B7767FF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2B54"/>
                </a:solidFill>
              </a:defRPr>
            </a:pPr>
            <a:r>
              <a:rPr sz="1500" b="1">
                <a:solidFill>
                  <a:srgbClr val="062B54"/>
                </a:solidFill>
              </a:rPr>
              <a:t>Silent shadow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C7BAD-E751-4135-B5A0-0D6DD237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20193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5847D-24D8-4FA2-9BE3-702002AE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71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97316"/>
                </a:solidFill>
              </a:defRPr>
            </a:pPr>
            <a:r>
              <a:rPr sz="1275" b="1">
                <a:solidFill>
                  <a:srgbClr val="F97316"/>
                </a:solidFill>
              </a:rPr>
              <a:t>Weeks 9-10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DCB1A0-06F2-4A9F-BB41-E824C1C9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2B54"/>
                </a:solidFill>
              </a:defRPr>
            </a:pPr>
            <a:r>
              <a:rPr sz="1500" b="1">
                <a:solidFill>
                  <a:srgbClr val="062B54"/>
                </a:solidFill>
              </a:rPr>
              <a:t>Human factors + load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DE979-746D-4F80-A7FF-F81FB67E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90700"/>
            <a:ext cx="20193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F23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DDE36-BBB3-4BC2-A3E3-FB8F3BC2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71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F233C"/>
                </a:solidFill>
              </a:defRPr>
            </a:pPr>
            <a:r>
              <a:rPr sz="1275" b="1">
                <a:solidFill>
                  <a:srgbClr val="EF233C"/>
                </a:solidFill>
              </a:rPr>
              <a:t>Weeks 11-12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8B84A-6E26-4277-A649-58699E06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812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2B54"/>
                </a:solidFill>
              </a:defRPr>
            </a:pPr>
            <a:r>
              <a:rPr sz="1500" b="1">
                <a:solidFill>
                  <a:srgbClr val="062B54"/>
                </a:solidFill>
              </a:rPr>
              <a:t>Independent go / no-go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ED771-39FD-44C4-B92B-19E806F9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8577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9525">
            <a:solidFill>
              <a:srgbClr val="D7E4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012C5F-549B-4DCE-BDB4-269B8D54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Illustrative cloud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D33D19-FF41-403D-86D4-EC07DCEE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878E8"/>
                </a:solidFill>
              </a:defRPr>
            </a:pPr>
            <a:r>
              <a:rPr sz="2400" b="1">
                <a:solidFill>
                  <a:srgbClr val="0878E8"/>
                </a:solidFill>
              </a:rPr>
              <a:t>$180-$650 / month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EA7F7-026B-477C-8D22-06582FC0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29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Small single-hospital shadow environment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952736-CAFB-449E-897D-3B4B6E15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485775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BF8"/>
          </a:solidFill>
          <a:ln xmlns:a="http://schemas.openxmlformats.org/drawingml/2006/main" w="9525">
            <a:solidFill>
              <a:srgbClr val="10B8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4737A2-EABC-43E3-BADA-C3862B26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2B54"/>
                </a:solidFill>
              </a:defRPr>
            </a:pPr>
            <a:r>
              <a:rPr sz="1725" b="1">
                <a:solidFill>
                  <a:srgbClr val="062B54"/>
                </a:solidFill>
              </a:rPr>
              <a:t>Illustrative pilot delivery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C7808E-A7C3-472D-A1CC-6FE2642C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1485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B8A6"/>
                </a:solidFill>
              </a:defRPr>
            </a:pPr>
            <a:r>
              <a:rPr sz="2400" b="1">
                <a:solidFill>
                  <a:srgbClr val="10B8A6"/>
                </a:solidFill>
              </a:rPr>
              <a:t>INR 28-62 lakh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B019D6-CA02-4ACA-8FD6-84B5B385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29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F7085"/>
                </a:solidFill>
              </a:defRPr>
            </a:pPr>
            <a:r>
              <a:rPr sz="1125">
                <a:solidFill>
                  <a:srgbClr val="5F7085"/>
                </a:solidFill>
              </a:rPr>
              <a:t>Clinical safety, product, integration, security, V&amp;V, training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BD97A3-6ECC-4D89-A235-4CF5E2C7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721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97316"/>
                </a:solidFill>
              </a:defRPr>
            </a:pPr>
            <a:r>
              <a:rPr sz="1350" b="1">
                <a:solidFill>
                  <a:srgbClr val="F97316"/>
                </a:solidFill>
              </a:rPr>
              <a:t>Ranges are planning assumptions, not a quote, savings promise, or ROI claim.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510F1B1C-8E25-4A01-ACDB-5236C319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14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F7085"/>
                </a:solidFill>
              </a:defRPr>
            </a:pPr>
            <a:r>
              <a:rPr sz="825">
                <a:solidFill>
                  <a:srgbClr val="5F7085"/>
                </a:solidFill>
              </a:rPr>
              <a:t>PatientTriage.ai  |  Synthetic prototype  |  Not for patient care</a:t>
            </a:r>
          </a:p>
        </p:txBody>
      </p:sp>
    </p:spTree>
    <p:extLst>
      <p:ext uri="{BB962C8B-B14F-4D97-AF65-F5344CB8AC3E}">
        <p14:creationId xmlns:p14="http://schemas.microsoft.com/office/powerpoint/2010/main" val="4976878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2B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75a272faa4f19"/>
          <a:stretch xmlns:a="http://schemas.openxmlformats.org/drawingml/2006/main"/>
        </p:blipFill>
        <p:spPr>
          <a:xfrm xmlns:a="http://schemas.openxmlformats.org/drawingml/2006/main">
            <a:off x="3974501" y="438150"/>
            <a:ext cx="4242999" cy="2400300"/>
          </a:xfrm>
          <a:prstGeom xmlns:a="http://schemas.openxmlformats.org/drawingml/2006/main" prst="rect">
            <a:avLst/>
          </a:prstGeom>
        </p:spPr>
      </p:pic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FA205989-E635-425F-A5CF-879FD13B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Approve the next evidence gate - not live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159BD-2041-42E6-B81E-18A7F26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5765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0BFE0"/>
                </a:solidFill>
              </a:defRPr>
            </a:pPr>
            <a:r>
              <a:rPr sz="1800">
                <a:solidFill>
                  <a:srgbClr val="10BFE0"/>
                </a:solidFill>
              </a:rPr>
              <a:t>A scoped, independently governed district-hospital shadow-pilot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E7FE6-6612-4534-A40B-DA03B84F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53000"/>
            <a:ext cx="2266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3B6D"/>
          </a:solidFill>
          <a:ln xmlns:a="http://schemas.openxmlformats.org/drawingml/2006/main" w="9525">
            <a:solidFill>
              <a:srgbClr val="0878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E1A06-47D7-46C4-AF76-4314C25C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Clinical safety owner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B197D-8A37-4726-9959-0BCCFB7E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53000"/>
            <a:ext cx="2266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3B6D"/>
          </a:solidFill>
          <a:ln xmlns:a="http://schemas.openxmlformats.org/drawingml/2006/main" w="9525">
            <a:solidFill>
              <a:srgbClr val="087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DDA50-EA1E-410F-AB5B-F75D7D9C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43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Local data +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82492-3BB2-4500-8F9C-E41A04AB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53000"/>
            <a:ext cx="2266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3B6D"/>
          </a:solidFill>
          <a:ln xmlns:a="http://schemas.openxmlformats.org/drawingml/2006/main" w="9525">
            <a:solidFill>
              <a:srgbClr val="087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688E4-1E42-4B56-8A06-CCF84DC7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Integration sandbox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0E6AF-50BC-4F17-8ED6-570E416F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53000"/>
            <a:ext cx="2266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3B6D"/>
          </a:solidFill>
          <a:ln xmlns:a="http://schemas.openxmlformats.org/drawingml/2006/main" w="9525">
            <a:solidFill>
              <a:srgbClr val="0878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27C90-11CB-4A00-960F-ED20AED0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43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Independent evaluation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6C33F7-DBF1-421A-8988-0DFEA4A5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1722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D8F3"/>
                </a:solidFill>
              </a:defRPr>
            </a:pPr>
            <a:r>
              <a:rPr sz="1050">
                <a:solidFill>
                  <a:srgbClr val="B9D8F3"/>
                </a:solidFill>
              </a:rPr>
              <a:t>Synthetic prototype  |  Not clinically validated  |  Clinician remains in control</a:t>
            </a:r>
          </a:p>
        </p:txBody>
      </p:sp>
    </p:spTree>
    <p:extLst>
      <p:ext uri="{BB962C8B-B14F-4D97-AF65-F5344CB8AC3E}">
        <p14:creationId xmlns:p14="http://schemas.microsoft.com/office/powerpoint/2010/main" val="51597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2026-08-25T20:15:25.4040000Z</dcterms:created>
  <dcterms:modified xsi:type="dcterms:W3CDTF">2026-08-25T20:15:25.4040000Z</dcterms:modified>
</coreProperties>
</file>